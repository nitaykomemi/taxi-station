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296" r:id="rId5"/>
    <p:sldId id="285" r:id="rId6"/>
    <p:sldId id="261" r:id="rId7"/>
    <p:sldId id="310" r:id="rId8"/>
    <p:sldId id="312" r:id="rId9"/>
    <p:sldId id="308" r:id="rId10"/>
    <p:sldId id="309" r:id="rId11"/>
    <p:sldId id="298" r:id="rId12"/>
    <p:sldId id="299" r:id="rId13"/>
    <p:sldId id="300" r:id="rId14"/>
    <p:sldId id="307" r:id="rId15"/>
    <p:sldId id="263" r:id="rId16"/>
    <p:sldId id="265" r:id="rId17"/>
    <p:sldId id="301" r:id="rId18"/>
    <p:sldId id="302" r:id="rId19"/>
    <p:sldId id="303" r:id="rId20"/>
    <p:sldId id="304" r:id="rId21"/>
    <p:sldId id="305" r:id="rId22"/>
    <p:sldId id="306" r:id="rId23"/>
    <p:sldId id="28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887" autoAdjust="0"/>
  </p:normalViewPr>
  <p:slideViewPr>
    <p:cSldViewPr snapToGrid="0" showGuides="1">
      <p:cViewPr>
        <p:scale>
          <a:sx n="100" d="100"/>
          <a:sy n="100" d="100"/>
        </p:scale>
        <p:origin x="990" y="1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5" qsCatId="simple" csTypeId="urn:microsoft.com/office/officeart/2005/8/colors/accent1_2" csCatId="accent1"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25000"/>
                </a:schemeClr>
              </a:solidFill>
              <a:latin typeface="+mn-lt"/>
            </a:rPr>
            <a:t>Q3</a:t>
          </a:r>
        </a:p>
      </dgm:t>
    </dgm:pt>
    <dgm:pt modelId="{4E972F7F-4B1B-47AA-A25B-1FFC561F1C76}" type="parTrans" cxnId="{D3D81948-D963-4D1E-AE16-9705EAF510FC}">
      <dgm:prSet/>
      <dgm:spPr/>
      <dgm:t>
        <a:bodyPr/>
        <a:lstStyle/>
        <a:p>
          <a:endParaRPr lang="en-US">
            <a:latin typeface="+mn-lt"/>
          </a:endParaRPr>
        </a:p>
      </dgm:t>
    </dgm:pt>
    <dgm:pt modelId="{67361508-930A-4A23-8CFC-BB56DA645C3C}" type="sibTrans" cxnId="{D3D81948-D963-4D1E-AE16-9705EAF510FC}">
      <dgm:prSet/>
      <dgm:spPr/>
      <dgm:t>
        <a:bodyPr/>
        <a:lstStyle/>
        <a:p>
          <a:endParaRPr lang="en-US">
            <a:latin typeface="+mn-lt"/>
          </a:endParaRPr>
        </a:p>
      </dgm:t>
    </dgm:pt>
    <dgm:pt modelId="{5E71F362-34DF-4EEC-92A3-0EFE450E05E4}">
      <dgm:prSet phldrT="[Text]" phldr="0" custT="1"/>
      <dgm:spPr>
        <a:solidFill>
          <a:schemeClr val="accent3">
            <a:alpha val="90000"/>
          </a:schemeClr>
        </a:solidFill>
      </dgm:spPr>
      <dgm:t>
        <a:bodyPr/>
        <a:lstStyle/>
        <a:p>
          <a:pPr algn="ctr"/>
          <a:r>
            <a:rPr lang="he-IL" sz="1800" dirty="0"/>
            <a:t>ארגון ופיצול קוד</a:t>
          </a:r>
          <a:endParaRPr lang="en-US" sz="1800" dirty="0">
            <a:solidFill>
              <a:schemeClr val="accent2">
                <a:lumMod val="25000"/>
              </a:schemeClr>
            </a:solidFill>
            <a:latin typeface="+mn-lt"/>
          </a:endParaRPr>
        </a:p>
      </dgm:t>
    </dgm:pt>
    <dgm:pt modelId="{8E5EE4D1-908E-455C-B8B3-281AD42DEC9A}" type="parTrans" cxnId="{B99CA6C9-28D1-4DDB-B8EC-AED73AD115CA}">
      <dgm:prSet/>
      <dgm:spPr/>
      <dgm:t>
        <a:bodyPr/>
        <a:lstStyle/>
        <a:p>
          <a:endParaRPr lang="en-US">
            <a:latin typeface="+mn-lt"/>
          </a:endParaRPr>
        </a:p>
      </dgm:t>
    </dgm:pt>
    <dgm:pt modelId="{B208B24A-E9FD-40A9-B764-FB7C2B7ED8B9}" type="sibTrans" cxnId="{B99CA6C9-28D1-4DDB-B8EC-AED73AD115CA}">
      <dgm:prSet/>
      <dgm:spPr/>
      <dgm:t>
        <a:bodyPr/>
        <a:lstStyle/>
        <a:p>
          <a:endParaRPr lang="en-US">
            <a:latin typeface="+mn-lt"/>
          </a:endParaRPr>
        </a:p>
      </dgm:t>
    </dgm:pt>
    <dgm:pt modelId="{91969DED-4CB8-4A14-A50B-3F7B848E46B5}">
      <dgm:prSet phldrT="[Text]" phldr="0"/>
      <dgm:spPr/>
      <dgm:t>
        <a:bodyPr/>
        <a:lstStyle/>
        <a:p>
          <a:pPr algn="ctr">
            <a:defRPr b="1"/>
          </a:pPr>
          <a:r>
            <a:rPr lang="en-US" dirty="0">
              <a:solidFill>
                <a:schemeClr val="accent2">
                  <a:lumMod val="25000"/>
                </a:schemeClr>
              </a:solidFill>
              <a:latin typeface="+mn-lt"/>
            </a:rPr>
            <a:t>Q2</a:t>
          </a:r>
        </a:p>
      </dgm:t>
    </dgm:pt>
    <dgm:pt modelId="{441CD73D-85E1-42A6-BCF8-362A3247E2F3}" type="parTrans" cxnId="{537F2ED0-8BD0-4AD5-B60D-89B660EDA1AC}">
      <dgm:prSet/>
      <dgm:spPr/>
      <dgm:t>
        <a:bodyPr/>
        <a:lstStyle/>
        <a:p>
          <a:endParaRPr lang="en-US">
            <a:latin typeface="+mn-lt"/>
          </a:endParaRPr>
        </a:p>
      </dgm:t>
    </dgm:pt>
    <dgm:pt modelId="{81CA8AA2-C0C3-4381-BA8B-413EDD578B83}" type="sibTrans" cxnId="{537F2ED0-8BD0-4AD5-B60D-89B660EDA1AC}">
      <dgm:prSet/>
      <dgm:spPr/>
      <dgm:t>
        <a:bodyPr/>
        <a:lstStyle/>
        <a:p>
          <a:endParaRPr lang="en-US">
            <a:latin typeface="+mn-lt"/>
          </a:endParaRPr>
        </a:p>
      </dgm:t>
    </dgm:pt>
    <dgm:pt modelId="{8A04F340-E8E1-4146-9905-E7ADCAEAABD7}">
      <dgm:prSet phldrT="[Text]" phldr="0" custT="1"/>
      <dgm:spPr>
        <a:solidFill>
          <a:schemeClr val="accent3">
            <a:alpha val="90000"/>
          </a:schemeClr>
        </a:solidFill>
      </dgm:spPr>
      <dgm:t>
        <a:bodyPr/>
        <a:lstStyle/>
        <a:p>
          <a:pPr algn="ctr"/>
          <a:r>
            <a:rPr lang="he-IL" sz="1800" dirty="0"/>
            <a:t>ניהול משאבים וזיכרון נכון</a:t>
          </a:r>
          <a:endParaRPr lang="en-US" sz="1800" dirty="0">
            <a:solidFill>
              <a:schemeClr val="accent2">
                <a:lumMod val="25000"/>
              </a:schemeClr>
            </a:solidFill>
            <a:latin typeface="+mn-lt"/>
          </a:endParaRPr>
        </a:p>
      </dgm:t>
    </dgm:pt>
    <dgm:pt modelId="{4EBD5EC2-45ED-4ED6-8376-97D155A911AE}" type="parTrans" cxnId="{E636BFFB-0404-4D4B-B3F0-C64FDFD9DDEF}">
      <dgm:prSet/>
      <dgm:spPr/>
      <dgm:t>
        <a:bodyPr/>
        <a:lstStyle/>
        <a:p>
          <a:endParaRPr lang="en-US">
            <a:latin typeface="+mn-lt"/>
          </a:endParaRPr>
        </a:p>
      </dgm:t>
    </dgm:pt>
    <dgm:pt modelId="{F9CD2A04-6A34-4104-A971-391788B88F55}" type="sibTrans" cxnId="{E636BFFB-0404-4D4B-B3F0-C64FDFD9DDEF}">
      <dgm:prSet/>
      <dgm:spPr/>
      <dgm:t>
        <a:bodyPr/>
        <a:lstStyle/>
        <a:p>
          <a:endParaRPr lang="en-US">
            <a:latin typeface="+mn-lt"/>
          </a:endParaRPr>
        </a:p>
      </dgm:t>
    </dgm:pt>
    <dgm:pt modelId="{3CC73758-10C1-47F8-AFA7-1A986D4DDD60}">
      <dgm:prSet phldrT="[Text]" phldr="0"/>
      <dgm:spPr/>
      <dgm:t>
        <a:bodyPr/>
        <a:lstStyle/>
        <a:p>
          <a:pPr algn="ctr">
            <a:defRPr b="1"/>
          </a:pPr>
          <a:r>
            <a:rPr lang="en-US" dirty="0">
              <a:solidFill>
                <a:schemeClr val="accent2">
                  <a:lumMod val="25000"/>
                </a:schemeClr>
              </a:solidFill>
              <a:latin typeface="+mn-lt"/>
            </a:rPr>
            <a:t>Q1</a:t>
          </a:r>
        </a:p>
      </dgm:t>
    </dgm:pt>
    <dgm:pt modelId="{FF6AE4B6-4A2F-49EE-9316-9AF55E77838B}" type="parTrans" cxnId="{4A69F85D-5C15-48FD-893A-B3050E1BADEB}">
      <dgm:prSet/>
      <dgm:spPr/>
      <dgm:t>
        <a:bodyPr/>
        <a:lstStyle/>
        <a:p>
          <a:endParaRPr lang="en-US">
            <a:latin typeface="+mn-lt"/>
          </a:endParaRPr>
        </a:p>
      </dgm:t>
    </dgm:pt>
    <dgm:pt modelId="{D8170BBA-6035-4773-8431-FEDD687647FF}" type="sibTrans" cxnId="{4A69F85D-5C15-48FD-893A-B3050E1BADEB}">
      <dgm:prSet/>
      <dgm:spPr/>
      <dgm:t>
        <a:bodyPr/>
        <a:lstStyle/>
        <a:p>
          <a:endParaRPr lang="en-US">
            <a:latin typeface="+mn-lt"/>
          </a:endParaRPr>
        </a:p>
      </dgm:t>
    </dgm:pt>
    <dgm:pt modelId="{FD9CA14A-483C-4869-B0C1-7C5FB7EEDBCC}">
      <dgm:prSet phldrT="[Text]" phldr="0" custT="1"/>
      <dgm:spPr>
        <a:solidFill>
          <a:schemeClr val="accent3">
            <a:alpha val="90000"/>
          </a:schemeClr>
        </a:solidFill>
      </dgm:spPr>
      <dgm:t>
        <a:bodyPr/>
        <a:lstStyle/>
        <a:p>
          <a:pPr algn="ctr"/>
          <a:r>
            <a:rPr lang="he-IL" sz="1800" dirty="0"/>
            <a:t>לוגיקת זמנים ושעונים מעורבים</a:t>
          </a:r>
          <a:endParaRPr lang="en-US" sz="1800" dirty="0">
            <a:solidFill>
              <a:schemeClr val="accent2">
                <a:lumMod val="25000"/>
              </a:schemeClr>
            </a:solidFill>
            <a:latin typeface="+mn-lt"/>
          </a:endParaRPr>
        </a:p>
      </dgm:t>
    </dgm:pt>
    <dgm:pt modelId="{8182A92F-45BA-4CD1-8E43-0B0810A50FEB}" type="parTrans" cxnId="{5EDA943F-300F-408A-A52E-3D5140FD5C22}">
      <dgm:prSet/>
      <dgm:spPr/>
      <dgm:t>
        <a:bodyPr/>
        <a:lstStyle/>
        <a:p>
          <a:endParaRPr lang="en-US">
            <a:latin typeface="+mn-lt"/>
          </a:endParaRPr>
        </a:p>
      </dgm:t>
    </dgm:pt>
    <dgm:pt modelId="{914BB93C-EA8A-4B5B-8F06-30DA7C7F4B7B}" type="sibTrans" cxnId="{5EDA943F-300F-408A-A52E-3D5140FD5C22}">
      <dgm:prSet/>
      <dgm:spPr/>
      <dgm:t>
        <a:bodyPr/>
        <a:lstStyle/>
        <a:p>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3">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3" custLinFactNeighborX="963"/>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3"/>
      <dgm:spPr>
        <a:noFill/>
        <a:ln w="6350" cap="flat" cmpd="sng" algn="ctr">
          <a:solidFill>
            <a:schemeClr val="accent1">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3"/>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3">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3"/>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3"/>
      <dgm:spPr>
        <a:noFill/>
        <a:ln w="6350" cap="flat" cmpd="sng" algn="ctr">
          <a:solidFill>
            <a:schemeClr val="accent1">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3"/>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3">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3"/>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3"/>
      <dgm:spPr>
        <a:noFill/>
        <a:ln w="6350" cap="flat" cmpd="sng" algn="ctr">
          <a:solidFill>
            <a:schemeClr val="accent1">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3"/>
      <dgm:spPr/>
    </dgm:pt>
    <dgm:pt modelId="{EAB0CCC2-BFF9-432D-BA8E-7ECAF2D92AF2}" type="pres">
      <dgm:prSet presAssocID="{3CC73758-10C1-47F8-AFA7-1A986D4DDD60}" presName="EmptyPlaceHolder" presStyleCnt="0"/>
      <dgm:spPr/>
    </dgm:pt>
  </dgm:ptLst>
  <dgm:cxnLst>
    <dgm:cxn modelId="{64516513-C9B3-4B52-A434-6178ACAB3599}" type="presOf" srcId="{91969DED-4CB8-4A14-A50B-3F7B848E46B5}" destId="{60D0713D-AF69-4AF8-B071-F6562279088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5" qsCatId="simple" csTypeId="urn:microsoft.com/office/officeart/2005/8/colors/accent1_2" csCatId="accent1"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25000"/>
                </a:schemeClr>
              </a:solidFill>
              <a:latin typeface="+mn-lt"/>
            </a:rPr>
            <a:t>Q3</a:t>
          </a:r>
        </a:p>
      </dgm:t>
    </dgm:pt>
    <dgm:pt modelId="{4E972F7F-4B1B-47AA-A25B-1FFC561F1C76}" type="parTrans" cxnId="{D3D81948-D963-4D1E-AE16-9705EAF510FC}">
      <dgm:prSet/>
      <dgm:spPr/>
      <dgm:t>
        <a:bodyPr/>
        <a:lstStyle/>
        <a:p>
          <a:endParaRPr lang="en-US">
            <a:latin typeface="+mn-lt"/>
          </a:endParaRPr>
        </a:p>
      </dgm:t>
    </dgm:pt>
    <dgm:pt modelId="{67361508-930A-4A23-8CFC-BB56DA645C3C}" type="sibTrans" cxnId="{D3D81948-D963-4D1E-AE16-9705EAF510FC}">
      <dgm:prSet/>
      <dgm:spPr/>
      <dgm:t>
        <a:bodyPr/>
        <a:lstStyle/>
        <a:p>
          <a:endParaRPr lang="en-US">
            <a:latin typeface="+mn-lt"/>
          </a:endParaRPr>
        </a:p>
      </dgm:t>
    </dgm:pt>
    <dgm:pt modelId="{5E71F362-34DF-4EEC-92A3-0EFE450E05E4}">
      <dgm:prSet phldrT="[Text]" phldr="0" custT="1"/>
      <dgm:spPr>
        <a:solidFill>
          <a:schemeClr val="accent3">
            <a:alpha val="90000"/>
          </a:schemeClr>
        </a:solidFill>
      </dgm:spPr>
      <dgm:t>
        <a:bodyPr/>
        <a:lstStyle/>
        <a:p>
          <a:pPr algn="ctr"/>
          <a:r>
            <a:rPr lang="he-IL" sz="1800" dirty="0"/>
            <a:t>חוויית משתמש</a:t>
          </a:r>
          <a:endParaRPr lang="en-US" sz="1800" dirty="0">
            <a:solidFill>
              <a:schemeClr val="accent2">
                <a:lumMod val="25000"/>
              </a:schemeClr>
            </a:solidFill>
            <a:latin typeface="+mn-lt"/>
          </a:endParaRPr>
        </a:p>
      </dgm:t>
    </dgm:pt>
    <dgm:pt modelId="{8E5EE4D1-908E-455C-B8B3-281AD42DEC9A}" type="parTrans" cxnId="{B99CA6C9-28D1-4DDB-B8EC-AED73AD115CA}">
      <dgm:prSet/>
      <dgm:spPr/>
      <dgm:t>
        <a:bodyPr/>
        <a:lstStyle/>
        <a:p>
          <a:endParaRPr lang="en-US">
            <a:latin typeface="+mn-lt"/>
          </a:endParaRPr>
        </a:p>
      </dgm:t>
    </dgm:pt>
    <dgm:pt modelId="{B208B24A-E9FD-40A9-B764-FB7C2B7ED8B9}" type="sibTrans" cxnId="{B99CA6C9-28D1-4DDB-B8EC-AED73AD115CA}">
      <dgm:prSet/>
      <dgm:spPr/>
      <dgm:t>
        <a:bodyPr/>
        <a:lstStyle/>
        <a:p>
          <a:endParaRPr lang="en-US">
            <a:latin typeface="+mn-lt"/>
          </a:endParaRPr>
        </a:p>
      </dgm:t>
    </dgm:pt>
    <dgm:pt modelId="{91969DED-4CB8-4A14-A50B-3F7B848E46B5}">
      <dgm:prSet phldrT="[Text]" phldr="0"/>
      <dgm:spPr/>
      <dgm:t>
        <a:bodyPr/>
        <a:lstStyle/>
        <a:p>
          <a:pPr algn="ctr">
            <a:defRPr b="1"/>
          </a:pPr>
          <a:r>
            <a:rPr lang="en-US" dirty="0">
              <a:solidFill>
                <a:schemeClr val="accent2">
                  <a:lumMod val="25000"/>
                </a:schemeClr>
              </a:solidFill>
              <a:latin typeface="+mn-lt"/>
            </a:rPr>
            <a:t>Q2</a:t>
          </a:r>
        </a:p>
      </dgm:t>
    </dgm:pt>
    <dgm:pt modelId="{441CD73D-85E1-42A6-BCF8-362A3247E2F3}" type="parTrans" cxnId="{537F2ED0-8BD0-4AD5-B60D-89B660EDA1AC}">
      <dgm:prSet/>
      <dgm:spPr/>
      <dgm:t>
        <a:bodyPr/>
        <a:lstStyle/>
        <a:p>
          <a:endParaRPr lang="en-US">
            <a:latin typeface="+mn-lt"/>
          </a:endParaRPr>
        </a:p>
      </dgm:t>
    </dgm:pt>
    <dgm:pt modelId="{81CA8AA2-C0C3-4381-BA8B-413EDD578B83}" type="sibTrans" cxnId="{537F2ED0-8BD0-4AD5-B60D-89B660EDA1AC}">
      <dgm:prSet/>
      <dgm:spPr/>
      <dgm:t>
        <a:bodyPr/>
        <a:lstStyle/>
        <a:p>
          <a:endParaRPr lang="en-US">
            <a:latin typeface="+mn-lt"/>
          </a:endParaRPr>
        </a:p>
      </dgm:t>
    </dgm:pt>
    <dgm:pt modelId="{8A04F340-E8E1-4146-9905-E7ADCAEAABD7}">
      <dgm:prSet phldrT="[Text]" phldr="0" custT="1"/>
      <dgm:spPr>
        <a:solidFill>
          <a:schemeClr val="accent3">
            <a:alpha val="90000"/>
          </a:schemeClr>
        </a:solidFill>
      </dgm:spPr>
      <dgm:t>
        <a:bodyPr/>
        <a:lstStyle/>
        <a:p>
          <a:pPr algn="ctr" rtl="1"/>
          <a:r>
            <a:rPr lang="he-IL" sz="1800" dirty="0"/>
            <a:t>גיבוי ואחסון קבוע </a:t>
          </a:r>
          <a:r>
            <a:rPr lang="en-US" sz="1800" dirty="0"/>
            <a:t>(File I/O)</a:t>
          </a:r>
          <a:endParaRPr lang="en-US" sz="1800" dirty="0">
            <a:solidFill>
              <a:schemeClr val="accent2">
                <a:lumMod val="25000"/>
              </a:schemeClr>
            </a:solidFill>
            <a:latin typeface="+mn-lt"/>
          </a:endParaRPr>
        </a:p>
      </dgm:t>
    </dgm:pt>
    <dgm:pt modelId="{4EBD5EC2-45ED-4ED6-8376-97D155A911AE}" type="parTrans" cxnId="{E636BFFB-0404-4D4B-B3F0-C64FDFD9DDEF}">
      <dgm:prSet/>
      <dgm:spPr/>
      <dgm:t>
        <a:bodyPr/>
        <a:lstStyle/>
        <a:p>
          <a:endParaRPr lang="en-US">
            <a:latin typeface="+mn-lt"/>
          </a:endParaRPr>
        </a:p>
      </dgm:t>
    </dgm:pt>
    <dgm:pt modelId="{F9CD2A04-6A34-4104-A971-391788B88F55}" type="sibTrans" cxnId="{E636BFFB-0404-4D4B-B3F0-C64FDFD9DDEF}">
      <dgm:prSet/>
      <dgm:spPr/>
      <dgm:t>
        <a:bodyPr/>
        <a:lstStyle/>
        <a:p>
          <a:endParaRPr lang="en-US">
            <a:latin typeface="+mn-lt"/>
          </a:endParaRPr>
        </a:p>
      </dgm:t>
    </dgm:pt>
    <dgm:pt modelId="{3CC73758-10C1-47F8-AFA7-1A986D4DDD60}">
      <dgm:prSet phldrT="[Text]" phldr="0"/>
      <dgm:spPr/>
      <dgm:t>
        <a:bodyPr/>
        <a:lstStyle/>
        <a:p>
          <a:pPr algn="ctr">
            <a:defRPr b="1"/>
          </a:pPr>
          <a:r>
            <a:rPr lang="en-US" dirty="0">
              <a:solidFill>
                <a:schemeClr val="accent2">
                  <a:lumMod val="25000"/>
                </a:schemeClr>
              </a:solidFill>
              <a:latin typeface="+mn-lt"/>
            </a:rPr>
            <a:t>Q1</a:t>
          </a:r>
        </a:p>
      </dgm:t>
    </dgm:pt>
    <dgm:pt modelId="{FF6AE4B6-4A2F-49EE-9316-9AF55E77838B}" type="parTrans" cxnId="{4A69F85D-5C15-48FD-893A-B3050E1BADEB}">
      <dgm:prSet/>
      <dgm:spPr/>
      <dgm:t>
        <a:bodyPr/>
        <a:lstStyle/>
        <a:p>
          <a:endParaRPr lang="en-US">
            <a:latin typeface="+mn-lt"/>
          </a:endParaRPr>
        </a:p>
      </dgm:t>
    </dgm:pt>
    <dgm:pt modelId="{D8170BBA-6035-4773-8431-FEDD687647FF}" type="sibTrans" cxnId="{4A69F85D-5C15-48FD-893A-B3050E1BADEB}">
      <dgm:prSet/>
      <dgm:spPr/>
      <dgm:t>
        <a:bodyPr/>
        <a:lstStyle/>
        <a:p>
          <a:endParaRPr lang="en-US">
            <a:latin typeface="+mn-lt"/>
          </a:endParaRPr>
        </a:p>
      </dgm:t>
    </dgm:pt>
    <dgm:pt modelId="{FD9CA14A-483C-4869-B0C1-7C5FB7EEDBCC}">
      <dgm:prSet phldrT="[Text]" phldr="0" custT="1"/>
      <dgm:spPr>
        <a:solidFill>
          <a:schemeClr val="accent3">
            <a:alpha val="90000"/>
          </a:schemeClr>
        </a:solidFill>
      </dgm:spPr>
      <dgm:t>
        <a:bodyPr/>
        <a:lstStyle/>
        <a:p>
          <a:pPr algn="ctr"/>
          <a:r>
            <a:rPr lang="he-IL" sz="1800" dirty="0"/>
            <a:t>גמישות ודינמיות</a:t>
          </a:r>
          <a:endParaRPr lang="en-US" sz="1800" dirty="0">
            <a:solidFill>
              <a:schemeClr val="accent2">
                <a:lumMod val="25000"/>
              </a:schemeClr>
            </a:solidFill>
            <a:latin typeface="+mn-lt"/>
          </a:endParaRPr>
        </a:p>
      </dgm:t>
    </dgm:pt>
    <dgm:pt modelId="{8182A92F-45BA-4CD1-8E43-0B0810A50FEB}" type="parTrans" cxnId="{5EDA943F-300F-408A-A52E-3D5140FD5C22}">
      <dgm:prSet/>
      <dgm:spPr/>
      <dgm:t>
        <a:bodyPr/>
        <a:lstStyle/>
        <a:p>
          <a:endParaRPr lang="en-US">
            <a:latin typeface="+mn-lt"/>
          </a:endParaRPr>
        </a:p>
      </dgm:t>
    </dgm:pt>
    <dgm:pt modelId="{914BB93C-EA8A-4B5B-8F06-30DA7C7F4B7B}" type="sibTrans" cxnId="{5EDA943F-300F-408A-A52E-3D5140FD5C22}">
      <dgm:prSet/>
      <dgm:spPr/>
      <dgm:t>
        <a:bodyPr/>
        <a:lstStyle/>
        <a:p>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3">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3" custLinFactNeighborX="963"/>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3"/>
      <dgm:spPr>
        <a:noFill/>
        <a:ln w="6350" cap="flat" cmpd="sng" algn="ctr">
          <a:solidFill>
            <a:schemeClr val="accent1">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3"/>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3">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3"/>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3"/>
      <dgm:spPr>
        <a:noFill/>
        <a:ln w="6350" cap="flat" cmpd="sng" algn="ctr">
          <a:solidFill>
            <a:schemeClr val="accent1">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3"/>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3">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3"/>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3"/>
      <dgm:spPr>
        <a:noFill/>
        <a:ln w="6350" cap="flat" cmpd="sng" algn="ctr">
          <a:solidFill>
            <a:schemeClr val="accent1">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3"/>
      <dgm:spPr/>
    </dgm:pt>
    <dgm:pt modelId="{EAB0CCC2-BFF9-432D-BA8E-7ECAF2D92AF2}" type="pres">
      <dgm:prSet presAssocID="{3CC73758-10C1-47F8-AFA7-1A986D4DDD60}" presName="EmptyPlaceHolder" presStyleCnt="0"/>
      <dgm:spPr/>
    </dgm:pt>
  </dgm:ptLst>
  <dgm:cxnLst>
    <dgm:cxn modelId="{64516513-C9B3-4B52-A434-6178ACAB3599}" type="presOf" srcId="{91969DED-4CB8-4A14-A50B-3F7B848E46B5}" destId="{60D0713D-AF69-4AF8-B071-F6562279088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956594"/>
          <a:ext cx="6619875" cy="0"/>
        </a:xfrm>
        <a:prstGeom prst="line">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sp:spPr>
      <dsp:style>
        <a:lnRef idx="1">
          <a:scrgbClr r="0" g="0" b="0"/>
        </a:lnRef>
        <a:fillRef idx="1">
          <a:scrgbClr r="0" g="0" b="0"/>
        </a:fillRef>
        <a:effectRef idx="2">
          <a:scrgbClr r="0" g="0" b="0"/>
        </a:effectRef>
        <a:fontRef idx="minor"/>
      </dsp:style>
    </dsp:sp>
    <dsp:sp modelId="{FE5C7F33-9326-49FB-89A3-8A20163AD994}">
      <dsp:nvSpPr>
        <dsp:cNvPr id="0" name=""/>
        <dsp:cNvSpPr/>
      </dsp:nvSpPr>
      <dsp:spPr>
        <a:xfrm>
          <a:off x="184373" y="2101381"/>
          <a:ext cx="269656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Q3</a:t>
          </a:r>
        </a:p>
      </dsp:txBody>
      <dsp:txXfrm>
        <a:off x="184373" y="2101381"/>
        <a:ext cx="2696564" cy="442190"/>
      </dsp:txXfrm>
    </dsp:sp>
    <dsp:sp modelId="{BA29120C-7C6B-4F62-9079-4AD528BC0744}">
      <dsp:nvSpPr>
        <dsp:cNvPr id="0" name=""/>
        <dsp:cNvSpPr/>
      </dsp:nvSpPr>
      <dsp:spPr>
        <a:xfrm>
          <a:off x="30026" y="545889"/>
          <a:ext cx="3064278"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he-IL" sz="1800" kern="1200" dirty="0"/>
            <a:t>ארגון ופיצול קוד</a:t>
          </a:r>
          <a:endParaRPr lang="en-US" sz="1800" kern="1200" dirty="0">
            <a:solidFill>
              <a:schemeClr val="accent2">
                <a:lumMod val="25000"/>
              </a:schemeClr>
            </a:solidFill>
            <a:latin typeface="+mn-lt"/>
          </a:endParaRPr>
        </a:p>
      </dsp:txBody>
      <dsp:txXfrm>
        <a:off x="62596" y="578459"/>
        <a:ext cx="2999138" cy="602058"/>
      </dsp:txXfrm>
    </dsp:sp>
    <dsp:sp modelId="{A95DB80B-444A-4D69-B205-3A801BB8524A}">
      <dsp:nvSpPr>
        <dsp:cNvPr id="0" name=""/>
        <dsp:cNvSpPr/>
      </dsp:nvSpPr>
      <dsp:spPr>
        <a:xfrm>
          <a:off x="1532656" y="1213088"/>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61655" y="1369615"/>
          <a:ext cx="269656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Q2</a:t>
          </a:r>
        </a:p>
      </dsp:txBody>
      <dsp:txXfrm>
        <a:off x="1961655" y="1369615"/>
        <a:ext cx="2696564" cy="442190"/>
      </dsp:txXfrm>
    </dsp:sp>
    <dsp:sp modelId="{FA19A0AA-8B0B-4AA8-A80D-08CFFDD3F112}">
      <dsp:nvSpPr>
        <dsp:cNvPr id="0" name=""/>
        <dsp:cNvSpPr/>
      </dsp:nvSpPr>
      <dsp:spPr>
        <a:xfrm>
          <a:off x="1503307"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ADAA0C9-3E42-4088-8622-30E9F6EA139A}">
      <dsp:nvSpPr>
        <dsp:cNvPr id="0" name=""/>
        <dsp:cNvSpPr/>
      </dsp:nvSpPr>
      <dsp:spPr>
        <a:xfrm>
          <a:off x="1777798" y="2700099"/>
          <a:ext cx="3064278"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he-IL" sz="1800" kern="1200" dirty="0"/>
            <a:t>ניהול משאבים וזיכרון נכון</a:t>
          </a:r>
          <a:endParaRPr lang="en-US" sz="1800" kern="1200" dirty="0">
            <a:solidFill>
              <a:schemeClr val="accent2">
                <a:lumMod val="25000"/>
              </a:schemeClr>
            </a:solidFill>
            <a:latin typeface="+mn-lt"/>
          </a:endParaRPr>
        </a:p>
      </dsp:txBody>
      <dsp:txXfrm>
        <a:off x="1810368" y="2732669"/>
        <a:ext cx="2999138" cy="602058"/>
      </dsp:txXfrm>
    </dsp:sp>
    <dsp:sp modelId="{DBD74D6B-057A-432C-9067-BF618C19EB2A}">
      <dsp:nvSpPr>
        <dsp:cNvPr id="0" name=""/>
        <dsp:cNvSpPr/>
      </dsp:nvSpPr>
      <dsp:spPr>
        <a:xfrm>
          <a:off x="3309937" y="1956593"/>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38936" y="2101381"/>
          <a:ext cx="269656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Q1</a:t>
          </a:r>
        </a:p>
      </dsp:txBody>
      <dsp:txXfrm>
        <a:off x="3738936" y="2101381"/>
        <a:ext cx="2696564" cy="442190"/>
      </dsp:txXfrm>
    </dsp:sp>
    <dsp:sp modelId="{0F979253-FD39-4920-BFCA-78C564B167EA}">
      <dsp:nvSpPr>
        <dsp:cNvPr id="0" name=""/>
        <dsp:cNvSpPr/>
      </dsp:nvSpPr>
      <dsp:spPr>
        <a:xfrm>
          <a:off x="3280588"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0D48281-565D-47A3-9B6C-576231178549}">
      <dsp:nvSpPr>
        <dsp:cNvPr id="0" name=""/>
        <dsp:cNvSpPr/>
      </dsp:nvSpPr>
      <dsp:spPr>
        <a:xfrm>
          <a:off x="3555079" y="295690"/>
          <a:ext cx="3064278" cy="9173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he-IL" sz="1800" kern="1200" dirty="0"/>
            <a:t>לוגיקת זמנים ושעונים מעורבים</a:t>
          </a:r>
          <a:endParaRPr lang="en-US" sz="1800" kern="1200" dirty="0">
            <a:solidFill>
              <a:schemeClr val="accent2">
                <a:lumMod val="25000"/>
              </a:schemeClr>
            </a:solidFill>
            <a:latin typeface="+mn-lt"/>
          </a:endParaRPr>
        </a:p>
      </dsp:txBody>
      <dsp:txXfrm>
        <a:off x="3599863" y="340474"/>
        <a:ext cx="2974710" cy="827830"/>
      </dsp:txXfrm>
    </dsp:sp>
    <dsp:sp modelId="{DCAE8A46-752C-4E82-84CE-E790E1F2918E}">
      <dsp:nvSpPr>
        <dsp:cNvPr id="0" name=""/>
        <dsp:cNvSpPr/>
      </dsp:nvSpPr>
      <dsp:spPr>
        <a:xfrm>
          <a:off x="5087218" y="1213088"/>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6459BF8-D2C3-4018-9C28-98667DC203F4}">
      <dsp:nvSpPr>
        <dsp:cNvPr id="0" name=""/>
        <dsp:cNvSpPr/>
      </dsp:nvSpPr>
      <dsp:spPr>
        <a:xfrm>
          <a:off x="5057869"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956594"/>
          <a:ext cx="6619875" cy="0"/>
        </a:xfrm>
        <a:prstGeom prst="line">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tailEnd type="triangle" w="lg" len="lg"/>
        </a:ln>
        <a:effectLst/>
      </dsp:spPr>
      <dsp:style>
        <a:lnRef idx="1">
          <a:scrgbClr r="0" g="0" b="0"/>
        </a:lnRef>
        <a:fillRef idx="1">
          <a:scrgbClr r="0" g="0" b="0"/>
        </a:fillRef>
        <a:effectRef idx="2">
          <a:scrgbClr r="0" g="0" b="0"/>
        </a:effectRef>
        <a:fontRef idx="minor"/>
      </dsp:style>
    </dsp:sp>
    <dsp:sp modelId="{FE5C7F33-9326-49FB-89A3-8A20163AD994}">
      <dsp:nvSpPr>
        <dsp:cNvPr id="0" name=""/>
        <dsp:cNvSpPr/>
      </dsp:nvSpPr>
      <dsp:spPr>
        <a:xfrm>
          <a:off x="184373" y="2101381"/>
          <a:ext cx="269656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Q3</a:t>
          </a:r>
        </a:p>
      </dsp:txBody>
      <dsp:txXfrm>
        <a:off x="184373" y="2101381"/>
        <a:ext cx="2696564" cy="442190"/>
      </dsp:txXfrm>
    </dsp:sp>
    <dsp:sp modelId="{BA29120C-7C6B-4F62-9079-4AD528BC0744}">
      <dsp:nvSpPr>
        <dsp:cNvPr id="0" name=""/>
        <dsp:cNvSpPr/>
      </dsp:nvSpPr>
      <dsp:spPr>
        <a:xfrm>
          <a:off x="30026" y="545889"/>
          <a:ext cx="3064278"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he-IL" sz="1800" kern="1200" dirty="0"/>
            <a:t>חוויית משתמש</a:t>
          </a:r>
          <a:endParaRPr lang="en-US" sz="1800" kern="1200" dirty="0">
            <a:solidFill>
              <a:schemeClr val="accent2">
                <a:lumMod val="25000"/>
              </a:schemeClr>
            </a:solidFill>
            <a:latin typeface="+mn-lt"/>
          </a:endParaRPr>
        </a:p>
      </dsp:txBody>
      <dsp:txXfrm>
        <a:off x="62596" y="578459"/>
        <a:ext cx="2999138" cy="602058"/>
      </dsp:txXfrm>
    </dsp:sp>
    <dsp:sp modelId="{A95DB80B-444A-4D69-B205-3A801BB8524A}">
      <dsp:nvSpPr>
        <dsp:cNvPr id="0" name=""/>
        <dsp:cNvSpPr/>
      </dsp:nvSpPr>
      <dsp:spPr>
        <a:xfrm>
          <a:off x="1532656" y="1213088"/>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61655" y="1369615"/>
          <a:ext cx="269656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Q2</a:t>
          </a:r>
        </a:p>
      </dsp:txBody>
      <dsp:txXfrm>
        <a:off x="1961655" y="1369615"/>
        <a:ext cx="2696564" cy="442190"/>
      </dsp:txXfrm>
    </dsp:sp>
    <dsp:sp modelId="{FA19A0AA-8B0B-4AA8-A80D-08CFFDD3F112}">
      <dsp:nvSpPr>
        <dsp:cNvPr id="0" name=""/>
        <dsp:cNvSpPr/>
      </dsp:nvSpPr>
      <dsp:spPr>
        <a:xfrm>
          <a:off x="1503307"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DADAA0C9-3E42-4088-8622-30E9F6EA139A}">
      <dsp:nvSpPr>
        <dsp:cNvPr id="0" name=""/>
        <dsp:cNvSpPr/>
      </dsp:nvSpPr>
      <dsp:spPr>
        <a:xfrm>
          <a:off x="1777798" y="2700099"/>
          <a:ext cx="3064278"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rtl="1">
            <a:lnSpc>
              <a:spcPct val="90000"/>
            </a:lnSpc>
            <a:spcBef>
              <a:spcPct val="0"/>
            </a:spcBef>
            <a:spcAft>
              <a:spcPct val="35000"/>
            </a:spcAft>
            <a:buNone/>
          </a:pPr>
          <a:r>
            <a:rPr lang="he-IL" sz="1800" kern="1200" dirty="0"/>
            <a:t>גיבוי ואחסון קבוע </a:t>
          </a:r>
          <a:r>
            <a:rPr lang="en-US" sz="1800" kern="1200" dirty="0"/>
            <a:t>(File I/O)</a:t>
          </a:r>
          <a:endParaRPr lang="en-US" sz="1800" kern="1200" dirty="0">
            <a:solidFill>
              <a:schemeClr val="accent2">
                <a:lumMod val="25000"/>
              </a:schemeClr>
            </a:solidFill>
            <a:latin typeface="+mn-lt"/>
          </a:endParaRPr>
        </a:p>
      </dsp:txBody>
      <dsp:txXfrm>
        <a:off x="1810368" y="2732669"/>
        <a:ext cx="2999138" cy="602058"/>
      </dsp:txXfrm>
    </dsp:sp>
    <dsp:sp modelId="{DBD74D6B-057A-432C-9067-BF618C19EB2A}">
      <dsp:nvSpPr>
        <dsp:cNvPr id="0" name=""/>
        <dsp:cNvSpPr/>
      </dsp:nvSpPr>
      <dsp:spPr>
        <a:xfrm>
          <a:off x="3309937" y="1956593"/>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38936" y="2101381"/>
          <a:ext cx="2696564" cy="442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25000"/>
                </a:schemeClr>
              </a:solidFill>
              <a:latin typeface="+mn-lt"/>
            </a:rPr>
            <a:t>Q1</a:t>
          </a:r>
        </a:p>
      </dsp:txBody>
      <dsp:txXfrm>
        <a:off x="3738936" y="2101381"/>
        <a:ext cx="2696564" cy="442190"/>
      </dsp:txXfrm>
    </dsp:sp>
    <dsp:sp modelId="{0F979253-FD39-4920-BFCA-78C564B167EA}">
      <dsp:nvSpPr>
        <dsp:cNvPr id="0" name=""/>
        <dsp:cNvSpPr/>
      </dsp:nvSpPr>
      <dsp:spPr>
        <a:xfrm>
          <a:off x="3280588"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0D48281-565D-47A3-9B6C-576231178549}">
      <dsp:nvSpPr>
        <dsp:cNvPr id="0" name=""/>
        <dsp:cNvSpPr/>
      </dsp:nvSpPr>
      <dsp:spPr>
        <a:xfrm>
          <a:off x="3555079" y="545889"/>
          <a:ext cx="3064278" cy="667198"/>
        </a:xfrm>
        <a:prstGeom prst="roundRect">
          <a:avLst/>
        </a:prstGeom>
        <a:solidFill>
          <a:schemeClr val="accent3">
            <a:alpha val="9000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he-IL" sz="1800" kern="1200" dirty="0"/>
            <a:t>גמישות ודינמיות</a:t>
          </a:r>
          <a:endParaRPr lang="en-US" sz="1800" kern="1200" dirty="0">
            <a:solidFill>
              <a:schemeClr val="accent2">
                <a:lumMod val="25000"/>
              </a:schemeClr>
            </a:solidFill>
            <a:latin typeface="+mn-lt"/>
          </a:endParaRPr>
        </a:p>
      </dsp:txBody>
      <dsp:txXfrm>
        <a:off x="3587649" y="578459"/>
        <a:ext cx="2999138" cy="602058"/>
      </dsp:txXfrm>
    </dsp:sp>
    <dsp:sp modelId="{DCAE8A46-752C-4E82-84CE-E790E1F2918E}">
      <dsp:nvSpPr>
        <dsp:cNvPr id="0" name=""/>
        <dsp:cNvSpPr/>
      </dsp:nvSpPr>
      <dsp:spPr>
        <a:xfrm>
          <a:off x="5087218" y="1213088"/>
          <a:ext cx="0" cy="743505"/>
        </a:xfrm>
        <a:prstGeom prst="line">
          <a:avLst/>
        </a:prstGeom>
        <a:noFill/>
        <a:ln w="635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6459BF8-D2C3-4018-9C28-98667DC203F4}">
      <dsp:nvSpPr>
        <dsp:cNvPr id="0" name=""/>
        <dsp:cNvSpPr/>
      </dsp:nvSpPr>
      <dsp:spPr>
        <a:xfrm>
          <a:off x="5057869" y="1927245"/>
          <a:ext cx="58697" cy="5869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4/7/2026</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4/7/2026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a:p>
            <a:endParaRPr lang="en-US" dirty="0"/>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dirty="0"/>
          </a:p>
        </p:txBody>
      </p:sp>
    </p:spTree>
    <p:extLst>
      <p:ext uri="{BB962C8B-B14F-4D97-AF65-F5344CB8AC3E}">
        <p14:creationId xmlns:p14="http://schemas.microsoft.com/office/powerpoint/2010/main" val="344219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e-IL" dirty="0"/>
              <a:t>מבנה נסיעה </a:t>
            </a:r>
            <a:r>
              <a:rPr lang="en-US" dirty="0"/>
              <a:t>Ride</a:t>
            </a:r>
            <a:endParaRPr lang="he-IL" dirty="0"/>
          </a:p>
          <a:p>
            <a:pPr marL="0" marR="0" lvl="0" indent="0" algn="l" defTabSz="914400" rtl="0" eaLnBrk="1" fontAlgn="auto" latinLnBrk="0" hangingPunct="1">
              <a:lnSpc>
                <a:spcPct val="100000"/>
              </a:lnSpc>
              <a:spcBef>
                <a:spcPts val="0"/>
              </a:spcBef>
              <a:spcAft>
                <a:spcPts val="0"/>
              </a:spcAft>
              <a:buClrTx/>
              <a:buSzTx/>
              <a:buFontTx/>
              <a:buNone/>
              <a:tabLst/>
              <a:defRPr/>
            </a:pPr>
            <a:r>
              <a:rPr lang="he-IL" dirty="0"/>
              <a:t>מבנה קו מונית</a:t>
            </a:r>
          </a:p>
          <a:p>
            <a:pPr marL="0" marR="0" lvl="0" indent="0" algn="l" defTabSz="914400" rtl="0" eaLnBrk="1" fontAlgn="auto" latinLnBrk="0" hangingPunct="1">
              <a:lnSpc>
                <a:spcPct val="100000"/>
              </a:lnSpc>
              <a:spcBef>
                <a:spcPts val="0"/>
              </a:spcBef>
              <a:spcAft>
                <a:spcPts val="0"/>
              </a:spcAft>
              <a:buClrTx/>
              <a:buSzTx/>
              <a:buFontTx/>
              <a:buNone/>
              <a:tabLst/>
              <a:defRPr/>
            </a:pPr>
            <a:r>
              <a:rPr lang="he-IL" dirty="0"/>
              <a:t>מבנה תחנה</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2</a:t>
            </a:fld>
            <a:endParaRPr lang="en-US" noProof="0" dirty="0"/>
          </a:p>
        </p:txBody>
      </p:sp>
    </p:spTree>
    <p:extLst>
      <p:ext uri="{BB962C8B-B14F-4D97-AF65-F5344CB8AC3E}">
        <p14:creationId xmlns:p14="http://schemas.microsoft.com/office/powerpoint/2010/main" val="2478779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sz="1200" dirty="0"/>
              <a:t>קליטת מספר הקווים הפעילים</a:t>
            </a:r>
            <a:endParaRPr lang="en-US"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3</a:t>
            </a:fld>
            <a:endParaRPr lang="en-US" noProof="0" dirty="0"/>
          </a:p>
        </p:txBody>
      </p:sp>
    </p:spTree>
    <p:extLst>
      <p:ext uri="{BB962C8B-B14F-4D97-AF65-F5344CB8AC3E}">
        <p14:creationId xmlns:p14="http://schemas.microsoft.com/office/powerpoint/2010/main" val="2506399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EB34C-6BD0-225A-07D2-C7A1DA5CB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B97DA5-1746-FB7C-D550-17734B994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4BAFBD-1F4A-02DB-D701-D3E403A2DC34}"/>
              </a:ext>
            </a:extLst>
          </p:cNvPr>
          <p:cNvSpPr>
            <a:spLocks noGrp="1"/>
          </p:cNvSpPr>
          <p:nvPr>
            <p:ph type="body" idx="1"/>
          </p:nvPr>
        </p:nvSpPr>
        <p:spPr/>
        <p:txBody>
          <a:bodyPr/>
          <a:lstStyle/>
          <a:p>
            <a:r>
              <a:rPr lang="he-IL" sz="1200" dirty="0"/>
              <a:t>קליטת מספר הקווים הפעילים</a:t>
            </a:r>
            <a:endParaRPr lang="en-US" dirty="0"/>
          </a:p>
        </p:txBody>
      </p:sp>
      <p:sp>
        <p:nvSpPr>
          <p:cNvPr id="4" name="Slide Number Placeholder 3">
            <a:extLst>
              <a:ext uri="{FF2B5EF4-FFF2-40B4-BE49-F238E27FC236}">
                <a16:creationId xmlns:a16="http://schemas.microsoft.com/office/drawing/2014/main" id="{94E7DB82-90A7-BD00-55A6-4CAD71E8C0ED}"/>
              </a:ext>
            </a:extLst>
          </p:cNvPr>
          <p:cNvSpPr>
            <a:spLocks noGrp="1"/>
          </p:cNvSpPr>
          <p:nvPr>
            <p:ph type="sldNum" sz="quarter" idx="5"/>
          </p:nvPr>
        </p:nvSpPr>
        <p:spPr/>
        <p:txBody>
          <a:bodyPr/>
          <a:lstStyle/>
          <a:p>
            <a:fld id="{6336304E-FDE3-4B4F-A3B7-EBE87F3FA5E2}" type="slidenum">
              <a:rPr lang="en-US" noProof="0" smtClean="0"/>
              <a:t>7</a:t>
            </a:fld>
            <a:endParaRPr lang="en-US" noProof="0" dirty="0"/>
          </a:p>
        </p:txBody>
      </p:sp>
    </p:spTree>
    <p:extLst>
      <p:ext uri="{BB962C8B-B14F-4D97-AF65-F5344CB8AC3E}">
        <p14:creationId xmlns:p14="http://schemas.microsoft.com/office/powerpoint/2010/main" val="765953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he-IL" i="1" dirty="0"/>
              <a:t>הקושי:</a:t>
            </a:r>
            <a:r>
              <a:rPr lang="he-IL" dirty="0"/>
              <a:t> המשתמש מזין שעה ודקות, אך המערכת מנהלת זמנים כ"סה"כ דקות מחצות".</a:t>
            </a:r>
          </a:p>
          <a:p>
            <a:pPr>
              <a:buNone/>
            </a:pPr>
            <a:r>
              <a:rPr lang="he-IL" i="1" dirty="0"/>
              <a:t>הפתרון:</a:t>
            </a:r>
            <a:r>
              <a:rPr lang="he-IL" dirty="0"/>
              <a:t> בניית נוסחאות המרה בעת הקליטה, ושימוש ב-</a:t>
            </a:r>
            <a:r>
              <a:rPr lang="en-US" dirty="0"/>
              <a:t>Macros (</a:t>
            </a:r>
            <a:r>
              <a:rPr lang="en-US" dirty="0">
                <a:latin typeface="Courier New" panose="02070309020205020404" pitchFamily="49" charset="0"/>
              </a:rPr>
              <a:t>GET_HOUR</a:t>
            </a:r>
            <a:r>
              <a:rPr lang="en-US" dirty="0"/>
              <a:t>, </a:t>
            </a:r>
            <a:r>
              <a:rPr lang="en-US" dirty="0">
                <a:latin typeface="Courier New" panose="02070309020205020404" pitchFamily="49" charset="0"/>
              </a:rPr>
              <a:t>GET_MIN</a:t>
            </a:r>
            <a:r>
              <a:rPr lang="en-US" dirty="0"/>
              <a:t>) </a:t>
            </a:r>
            <a:r>
              <a:rPr lang="he-IL" dirty="0"/>
              <a:t>לחילוץ אלגנטי של השעה המדויקת להדפסה.</a:t>
            </a:r>
          </a:p>
          <a:p>
            <a:endParaRPr lang="en-US" dirty="0"/>
          </a:p>
        </p:txBody>
      </p:sp>
      <p:sp>
        <p:nvSpPr>
          <p:cNvPr id="4" name="Slide Number Placeholder 3"/>
          <p:cNvSpPr>
            <a:spLocks noGrp="1"/>
          </p:cNvSpPr>
          <p:nvPr>
            <p:ph type="sldNum" sz="quarter" idx="5"/>
          </p:nvPr>
        </p:nvSpPr>
        <p:spPr/>
        <p:txBody>
          <a:bodyPr/>
          <a:lstStyle/>
          <a:p>
            <a:fld id="{6336304E-FDE3-4B4F-A3B7-EBE87F3FA5E2}" type="slidenum">
              <a:rPr lang="en-US" noProof="0" smtClean="0"/>
              <a:t>13</a:t>
            </a:fld>
            <a:endParaRPr lang="en-US" noProof="0" dirty="0"/>
          </a:p>
        </p:txBody>
      </p:sp>
    </p:spTree>
    <p:extLst>
      <p:ext uri="{BB962C8B-B14F-4D97-AF65-F5344CB8AC3E}">
        <p14:creationId xmlns:p14="http://schemas.microsoft.com/office/powerpoint/2010/main" val="2440377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7FB05-AC0B-8DD3-538F-7E0F92FAF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D20FC-F60B-95CA-7E03-13902F9E3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ACDBE3-2D78-FE0D-4CC5-206C4081299D}"/>
              </a:ext>
            </a:extLst>
          </p:cNvPr>
          <p:cNvSpPr>
            <a:spLocks noGrp="1"/>
          </p:cNvSpPr>
          <p:nvPr>
            <p:ph type="body" idx="1"/>
          </p:nvPr>
        </p:nvSpPr>
        <p:spPr/>
        <p:txBody>
          <a:bodyPr/>
          <a:lstStyle/>
          <a:p>
            <a:pPr>
              <a:buNone/>
            </a:pPr>
            <a:r>
              <a:rPr lang="he-IL" i="1" dirty="0"/>
              <a:t>הקושי:</a:t>
            </a:r>
            <a:r>
              <a:rPr lang="he-IL" dirty="0"/>
              <a:t> עדכון מספר משתנים מקוננים בו-זמנית מבלי לאבד מידע.</a:t>
            </a:r>
          </a:p>
          <a:p>
            <a:pPr>
              <a:buNone/>
            </a:pPr>
            <a:r>
              <a:rPr lang="he-IL" i="1" dirty="0"/>
              <a:t>הפתרון:</a:t>
            </a:r>
            <a:r>
              <a:rPr lang="he-IL" dirty="0"/>
              <a:t> שימוש במצביעים (</a:t>
            </a:r>
            <a:r>
              <a:rPr lang="he-IL" dirty="0">
                <a:latin typeface="Courier New" panose="02070309020205020404" pitchFamily="49" charset="0"/>
              </a:rPr>
              <a:t>*</a:t>
            </a:r>
            <a:r>
              <a:rPr lang="he-IL" dirty="0"/>
              <a:t> ו-</a:t>
            </a:r>
            <a:r>
              <a:rPr lang="he-IL" dirty="0">
                <a:latin typeface="Courier New" panose="02070309020205020404" pitchFamily="49" charset="0"/>
              </a:rPr>
              <a:t>-&gt;</a:t>
            </a:r>
            <a:r>
              <a:rPr lang="he-IL" dirty="0"/>
              <a:t>) כדי לשנות את הנתונים ישירות בכתובת הזיכרון של התחנה (</a:t>
            </a:r>
            <a:r>
              <a:rPr lang="he-IL" dirty="0">
                <a:latin typeface="Courier New" panose="02070309020205020404" pitchFamily="49" charset="0"/>
              </a:rPr>
              <a:t>&amp;</a:t>
            </a:r>
            <a:r>
              <a:rPr lang="en-US" dirty="0" err="1">
                <a:latin typeface="Courier New" panose="02070309020205020404" pitchFamily="49" charset="0"/>
              </a:rPr>
              <a:t>mystation</a:t>
            </a:r>
            <a:r>
              <a:rPr lang="en-US" dirty="0"/>
              <a:t>).</a:t>
            </a:r>
          </a:p>
        </p:txBody>
      </p:sp>
      <p:sp>
        <p:nvSpPr>
          <p:cNvPr id="4" name="Slide Number Placeholder 3">
            <a:extLst>
              <a:ext uri="{FF2B5EF4-FFF2-40B4-BE49-F238E27FC236}">
                <a16:creationId xmlns:a16="http://schemas.microsoft.com/office/drawing/2014/main" id="{8CE8CCEE-8EED-7B33-0B15-084968AF15FD}"/>
              </a:ext>
            </a:extLst>
          </p:cNvPr>
          <p:cNvSpPr>
            <a:spLocks noGrp="1"/>
          </p:cNvSpPr>
          <p:nvPr>
            <p:ph type="sldNum" sz="quarter" idx="5"/>
          </p:nvPr>
        </p:nvSpPr>
        <p:spPr/>
        <p:txBody>
          <a:bodyPr/>
          <a:lstStyle/>
          <a:p>
            <a:fld id="{6336304E-FDE3-4B4F-A3B7-EBE87F3FA5E2}" type="slidenum">
              <a:rPr lang="en-US" noProof="0" smtClean="0"/>
              <a:t>14</a:t>
            </a:fld>
            <a:endParaRPr lang="en-US" noProof="0" dirty="0"/>
          </a:p>
        </p:txBody>
      </p:sp>
    </p:spTree>
    <p:extLst>
      <p:ext uri="{BB962C8B-B14F-4D97-AF65-F5344CB8AC3E}">
        <p14:creationId xmlns:p14="http://schemas.microsoft.com/office/powerpoint/2010/main" val="802241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608CD-805E-8E2A-CA34-3C3B9717B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713B60-C50F-EC98-B9F6-F54CDA529F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A64EE-52B6-31F8-9E2B-A9CD7FECF1E7}"/>
              </a:ext>
            </a:extLst>
          </p:cNvPr>
          <p:cNvSpPr>
            <a:spLocks noGrp="1"/>
          </p:cNvSpPr>
          <p:nvPr>
            <p:ph type="body" idx="1"/>
          </p:nvPr>
        </p:nvSpPr>
        <p:spPr/>
        <p:txBody>
          <a:bodyPr/>
          <a:lstStyle/>
          <a:p>
            <a:r>
              <a:rPr lang="he-IL" i="1" dirty="0"/>
              <a:t>הקושי:</a:t>
            </a:r>
            <a:r>
              <a:rPr lang="he-IL" dirty="0"/>
              <a:t> חלוקת קוד עמוס לקבצים נפרדים מבלי לגרום לשגיאות </a:t>
            </a:r>
            <a:r>
              <a:rPr lang="en-US" dirty="0"/>
              <a:t>Linker.</a:t>
            </a:r>
          </a:p>
          <a:p>
            <a:r>
              <a:rPr lang="he-IL" i="1" dirty="0"/>
              <a:t>הפתרון:</a:t>
            </a:r>
            <a:r>
              <a:rPr lang="he-IL" dirty="0"/>
              <a:t> עבודה נכונה עם קובץ </a:t>
            </a:r>
            <a:r>
              <a:rPr lang="en-US" dirty="0"/>
              <a:t>Header (</a:t>
            </a:r>
            <a:r>
              <a:rPr lang="en-US" sz="1200" kern="1200" dirty="0">
                <a:solidFill>
                  <a:schemeClr val="tx1"/>
                </a:solidFill>
                <a:latin typeface="+mn-lt"/>
                <a:ea typeface="+mn-ea"/>
                <a:cs typeface="+mn-cs"/>
              </a:rPr>
              <a:t>.h</a:t>
            </a:r>
            <a:r>
              <a:rPr lang="en-US" dirty="0"/>
              <a:t>) </a:t>
            </a:r>
            <a:r>
              <a:rPr lang="he-IL" dirty="0"/>
              <a:t>והגנה מפני קריאה כפולה בעזרת </a:t>
            </a:r>
            <a:r>
              <a:rPr lang="he-IL" sz="1200" kern="1200" dirty="0">
                <a:solidFill>
                  <a:schemeClr val="tx1"/>
                </a:solidFill>
                <a:latin typeface="+mn-lt"/>
                <a:ea typeface="+mn-ea"/>
                <a:cs typeface="+mn-cs"/>
              </a:rPr>
              <a:t>#</a:t>
            </a:r>
            <a:r>
              <a:rPr lang="en-US" sz="1200" kern="1200" dirty="0" err="1">
                <a:solidFill>
                  <a:schemeClr val="tx1"/>
                </a:solidFill>
                <a:latin typeface="+mn-lt"/>
                <a:ea typeface="+mn-ea"/>
                <a:cs typeface="+mn-cs"/>
              </a:rPr>
              <a:t>ifndef</a:t>
            </a:r>
            <a:r>
              <a:rPr lang="en-US" dirty="0"/>
              <a:t>.</a:t>
            </a:r>
          </a:p>
        </p:txBody>
      </p:sp>
      <p:sp>
        <p:nvSpPr>
          <p:cNvPr id="4" name="Slide Number Placeholder 3">
            <a:extLst>
              <a:ext uri="{FF2B5EF4-FFF2-40B4-BE49-F238E27FC236}">
                <a16:creationId xmlns:a16="http://schemas.microsoft.com/office/drawing/2014/main" id="{6D572296-813F-B747-512B-DF950B45A65D}"/>
              </a:ext>
            </a:extLst>
          </p:cNvPr>
          <p:cNvSpPr>
            <a:spLocks noGrp="1"/>
          </p:cNvSpPr>
          <p:nvPr>
            <p:ph type="sldNum" sz="quarter" idx="5"/>
          </p:nvPr>
        </p:nvSpPr>
        <p:spPr/>
        <p:txBody>
          <a:bodyPr/>
          <a:lstStyle/>
          <a:p>
            <a:fld id="{6336304E-FDE3-4B4F-A3B7-EBE87F3FA5E2}" type="slidenum">
              <a:rPr lang="en-US" noProof="0" smtClean="0"/>
              <a:t>15</a:t>
            </a:fld>
            <a:endParaRPr lang="en-US" noProof="0" dirty="0"/>
          </a:p>
        </p:txBody>
      </p:sp>
    </p:spTree>
    <p:extLst>
      <p:ext uri="{BB962C8B-B14F-4D97-AF65-F5344CB8AC3E}">
        <p14:creationId xmlns:p14="http://schemas.microsoft.com/office/powerpoint/2010/main" val="20600735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EE01F-6182-CE31-B859-F6E8EFD80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1782E-512C-185C-4428-DE180E004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18F70-9249-C4EE-1F73-9407C5D03AA2}"/>
              </a:ext>
            </a:extLst>
          </p:cNvPr>
          <p:cNvSpPr>
            <a:spLocks noGrp="1"/>
          </p:cNvSpPr>
          <p:nvPr>
            <p:ph type="body" idx="1"/>
          </p:nvPr>
        </p:nvSpPr>
        <p:spPr/>
        <p:txBody>
          <a:bodyPr/>
          <a:lstStyle/>
          <a:p>
            <a:pPr>
              <a:buNone/>
            </a:pPr>
            <a:r>
              <a:rPr lang="he-IL" dirty="0"/>
              <a:t>המערכת לא קשיחה ל-5 קווים. המנהל מחליט כמה קווים להפעיל היום (1-5), והלולאות/דוחות מתאימים את עצמם כדי לחסוך עיבוד מיותר.</a:t>
            </a:r>
            <a:endParaRPr lang="en-US" dirty="0"/>
          </a:p>
        </p:txBody>
      </p:sp>
      <p:sp>
        <p:nvSpPr>
          <p:cNvPr id="4" name="Slide Number Placeholder 3">
            <a:extLst>
              <a:ext uri="{FF2B5EF4-FFF2-40B4-BE49-F238E27FC236}">
                <a16:creationId xmlns:a16="http://schemas.microsoft.com/office/drawing/2014/main" id="{6E587D77-4162-2342-6484-2BAE1067F437}"/>
              </a:ext>
            </a:extLst>
          </p:cNvPr>
          <p:cNvSpPr>
            <a:spLocks noGrp="1"/>
          </p:cNvSpPr>
          <p:nvPr>
            <p:ph type="sldNum" sz="quarter" idx="5"/>
          </p:nvPr>
        </p:nvSpPr>
        <p:spPr/>
        <p:txBody>
          <a:bodyPr/>
          <a:lstStyle/>
          <a:p>
            <a:fld id="{6336304E-FDE3-4B4F-A3B7-EBE87F3FA5E2}" type="slidenum">
              <a:rPr lang="en-US" noProof="0" smtClean="0"/>
              <a:t>17</a:t>
            </a:fld>
            <a:endParaRPr lang="en-US" noProof="0" dirty="0"/>
          </a:p>
        </p:txBody>
      </p:sp>
    </p:spTree>
    <p:extLst>
      <p:ext uri="{BB962C8B-B14F-4D97-AF65-F5344CB8AC3E}">
        <p14:creationId xmlns:p14="http://schemas.microsoft.com/office/powerpoint/2010/main" val="2179784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F85A1-044C-E24C-DD5E-2B7A27002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EEE15-7CA7-A4E9-9B09-5A7B726CD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BEEEB-AC8D-A186-1C10-29C1CEB8AC24}"/>
              </a:ext>
            </a:extLst>
          </p:cNvPr>
          <p:cNvSpPr>
            <a:spLocks noGrp="1"/>
          </p:cNvSpPr>
          <p:nvPr>
            <p:ph type="body" idx="1"/>
          </p:nvPr>
        </p:nvSpPr>
        <p:spPr/>
        <p:txBody>
          <a:bodyPr/>
          <a:lstStyle/>
          <a:p>
            <a:pPr>
              <a:buNone/>
            </a:pPr>
            <a:r>
              <a:rPr lang="he-IL" dirty="0"/>
              <a:t>מימוש פונקציית </a:t>
            </a:r>
            <a:r>
              <a:rPr lang="en-US" sz="1200" kern="1200" dirty="0" err="1">
                <a:solidFill>
                  <a:schemeClr val="tx1"/>
                </a:solidFill>
                <a:latin typeface="+mn-lt"/>
                <a:ea typeface="+mn-ea"/>
                <a:cs typeface="+mn-cs"/>
              </a:rPr>
              <a:t>saveReportToFile</a:t>
            </a:r>
            <a:r>
              <a:rPr lang="en-US" dirty="0"/>
              <a:t> </a:t>
            </a:r>
            <a:r>
              <a:rPr lang="he-IL" dirty="0"/>
              <a:t>היוצרת ומעדכנת קובץ טקסט (</a:t>
            </a:r>
            <a:r>
              <a:rPr lang="en-US" sz="1200" kern="1200" dirty="0">
                <a:solidFill>
                  <a:schemeClr val="tx1"/>
                </a:solidFill>
                <a:latin typeface="+mn-lt"/>
                <a:ea typeface="+mn-ea"/>
                <a:cs typeface="+mn-cs"/>
              </a:rPr>
              <a:t>station_report.txt</a:t>
            </a:r>
            <a:r>
              <a:rPr lang="en-US" dirty="0"/>
              <a:t>). </a:t>
            </a:r>
            <a:r>
              <a:rPr lang="he-IL" dirty="0"/>
              <a:t>מבטיח שנתוני ההכנסות לא יאבדו עם התרוקנות ה-</a:t>
            </a:r>
            <a:r>
              <a:rPr lang="en-US" dirty="0"/>
              <a:t>RAM </a:t>
            </a:r>
            <a:r>
              <a:rPr lang="he-IL" dirty="0"/>
              <a:t>בסגירת התוכנית.</a:t>
            </a:r>
            <a:endParaRPr lang="en-US" dirty="0"/>
          </a:p>
        </p:txBody>
      </p:sp>
      <p:sp>
        <p:nvSpPr>
          <p:cNvPr id="4" name="Slide Number Placeholder 3">
            <a:extLst>
              <a:ext uri="{FF2B5EF4-FFF2-40B4-BE49-F238E27FC236}">
                <a16:creationId xmlns:a16="http://schemas.microsoft.com/office/drawing/2014/main" id="{E8F55C13-641D-C7F3-A2D7-EBF228BC6AFC}"/>
              </a:ext>
            </a:extLst>
          </p:cNvPr>
          <p:cNvSpPr>
            <a:spLocks noGrp="1"/>
          </p:cNvSpPr>
          <p:nvPr>
            <p:ph type="sldNum" sz="quarter" idx="5"/>
          </p:nvPr>
        </p:nvSpPr>
        <p:spPr/>
        <p:txBody>
          <a:bodyPr/>
          <a:lstStyle/>
          <a:p>
            <a:fld id="{6336304E-FDE3-4B4F-A3B7-EBE87F3FA5E2}" type="slidenum">
              <a:rPr lang="en-US" noProof="0" smtClean="0"/>
              <a:t>18</a:t>
            </a:fld>
            <a:endParaRPr lang="en-US" noProof="0" dirty="0"/>
          </a:p>
        </p:txBody>
      </p:sp>
    </p:spTree>
    <p:extLst>
      <p:ext uri="{BB962C8B-B14F-4D97-AF65-F5344CB8AC3E}">
        <p14:creationId xmlns:p14="http://schemas.microsoft.com/office/powerpoint/2010/main" val="4009995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741A7-5AFA-E176-725C-F7B3BF704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E42A2-E80E-89C8-9EB4-1CA4A4CF4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65E18F-097C-4346-DC0B-794CA58393B5}"/>
              </a:ext>
            </a:extLst>
          </p:cNvPr>
          <p:cNvSpPr>
            <a:spLocks noGrp="1"/>
          </p:cNvSpPr>
          <p:nvPr>
            <p:ph type="body" idx="1"/>
          </p:nvPr>
        </p:nvSpPr>
        <p:spPr/>
        <p:txBody>
          <a:bodyPr/>
          <a:lstStyle/>
          <a:p>
            <a:r>
              <a:rPr lang="he-IL" dirty="0"/>
              <a:t>בניית ממשק משתמש נקי: הדפסת "כרטיס נסיעה" גרפי לאחר התשלום.</a:t>
            </a:r>
          </a:p>
          <a:p>
            <a:r>
              <a:rPr lang="he-IL" dirty="0"/>
              <a:t>שימוש בטכניקות יישור עמודות (</a:t>
            </a:r>
            <a:r>
              <a:rPr lang="en-US" dirty="0"/>
              <a:t>Field Width </a:t>
            </a:r>
            <a:r>
              <a:rPr lang="he-IL" dirty="0"/>
              <a:t>כמו </a:t>
            </a:r>
            <a:r>
              <a:rPr lang="he-IL" sz="1200" kern="1200" dirty="0">
                <a:solidFill>
                  <a:schemeClr val="tx1"/>
                </a:solidFill>
                <a:latin typeface="+mn-lt"/>
                <a:ea typeface="+mn-ea"/>
                <a:cs typeface="+mn-cs"/>
              </a:rPr>
              <a:t>%-15</a:t>
            </a:r>
            <a:r>
              <a:rPr lang="en-US" sz="1200" kern="1200" dirty="0">
                <a:solidFill>
                  <a:schemeClr val="tx1"/>
                </a:solidFill>
                <a:latin typeface="+mn-lt"/>
                <a:ea typeface="+mn-ea"/>
                <a:cs typeface="+mn-cs"/>
              </a:rPr>
              <a:t>d</a:t>
            </a:r>
            <a:r>
              <a:rPr lang="en-US" dirty="0"/>
              <a:t>) </a:t>
            </a:r>
            <a:r>
              <a:rPr lang="he-IL" dirty="0"/>
              <a:t>ליצירת טבלאות סיכום מקצועיות וקריאות.</a:t>
            </a:r>
          </a:p>
        </p:txBody>
      </p:sp>
      <p:sp>
        <p:nvSpPr>
          <p:cNvPr id="4" name="Slide Number Placeholder 3">
            <a:extLst>
              <a:ext uri="{FF2B5EF4-FFF2-40B4-BE49-F238E27FC236}">
                <a16:creationId xmlns:a16="http://schemas.microsoft.com/office/drawing/2014/main" id="{F18D136B-FD47-D3EA-37DB-333B5FD490F5}"/>
              </a:ext>
            </a:extLst>
          </p:cNvPr>
          <p:cNvSpPr>
            <a:spLocks noGrp="1"/>
          </p:cNvSpPr>
          <p:nvPr>
            <p:ph type="sldNum" sz="quarter" idx="5"/>
          </p:nvPr>
        </p:nvSpPr>
        <p:spPr/>
        <p:txBody>
          <a:bodyPr/>
          <a:lstStyle/>
          <a:p>
            <a:fld id="{6336304E-FDE3-4B4F-A3B7-EBE87F3FA5E2}" type="slidenum">
              <a:rPr lang="en-US" noProof="0" smtClean="0"/>
              <a:t>19</a:t>
            </a:fld>
            <a:endParaRPr lang="en-US" noProof="0" dirty="0"/>
          </a:p>
        </p:txBody>
      </p:sp>
    </p:spTree>
    <p:extLst>
      <p:ext uri="{BB962C8B-B14F-4D97-AF65-F5344CB8AC3E}">
        <p14:creationId xmlns:p14="http://schemas.microsoft.com/office/powerpoint/2010/main" val="7720960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D93970-B13A-F96D-A4B1-3A1EE7484106}"/>
              </a:ext>
            </a:extLst>
          </p:cNvPr>
          <p:cNvPicPr>
            <a:picLocks noChangeAspect="1"/>
          </p:cNvPicPr>
          <p:nvPr userDrawn="1"/>
        </p:nvPicPr>
        <p:blipFill>
          <a:blip r:embed="rId2"/>
          <a:srcRect/>
          <a:stretch/>
        </p:blipFill>
        <p:spPr>
          <a:xfrm>
            <a:off x="1" y="0"/>
            <a:ext cx="12202379" cy="6857999"/>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502920"/>
            <a:ext cx="10954512" cy="3246120"/>
          </a:xfrm>
        </p:spPr>
        <p:txBody>
          <a:bodyPr anchor="b">
            <a:noAutofit/>
          </a:bodyPr>
          <a:lstStyle>
            <a:lvl1pPr algn="ctr">
              <a:defRPr sz="6600" b="1" i="0" cap="none"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12648" y="3758183"/>
            <a:ext cx="10954512" cy="1307592"/>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01">
    <p:bg>
      <p:bgPr>
        <a:gradFill>
          <a:gsLst>
            <a:gs pos="33000">
              <a:schemeClr val="bg2"/>
            </a:gs>
            <a:gs pos="59000">
              <a:schemeClr val="tx2">
                <a:lumMod val="90000"/>
                <a:alpha val="65163"/>
              </a:schemeClr>
            </a:gs>
          </a:gsLst>
          <a:lin ang="7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850392"/>
            <a:ext cx="3913632" cy="4800600"/>
          </a:xfrm>
        </p:spPr>
        <p:txBody>
          <a:bodyPr/>
          <a:lstStyle>
            <a:lvl1pPr>
              <a:defRPr>
                <a:solidFill>
                  <a:schemeClr val="accent2">
                    <a:lumMod val="25000"/>
                  </a:schemeClr>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5358384" y="1965960"/>
            <a:ext cx="4050792" cy="2953512"/>
          </a:xfrm>
        </p:spPr>
        <p:txBody>
          <a:bodyPr anchor="ctr" anchorCtr="0"/>
          <a:lstStyle>
            <a:lvl1pPr>
              <a:defRPr cap="all" baseline="0">
                <a:solidFill>
                  <a:schemeClr val="accent2">
                    <a:lumMod val="25000"/>
                  </a:schemeClr>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Rounded Rectangle 4">
            <a:extLst>
              <a:ext uri="{FF2B5EF4-FFF2-40B4-BE49-F238E27FC236}">
                <a16:creationId xmlns:a16="http://schemas.microsoft.com/office/drawing/2014/main" id="{906EB944-76A9-6F98-104E-59CD34F5CF9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7">
            <a:extLst>
              <a:ext uri="{FF2B5EF4-FFF2-40B4-BE49-F238E27FC236}">
                <a16:creationId xmlns:a16="http://schemas.microsoft.com/office/drawing/2014/main" id="{898C8E3F-6992-0D8A-CCA1-3DD2C147AA8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4756"/>
          <a:stretch/>
        </p:blipFill>
        <p:spPr>
          <a:xfrm>
            <a:off x="8853067" y="1"/>
            <a:ext cx="1875091" cy="1605320"/>
          </a:xfrm>
          <a:prstGeom prst="rect">
            <a:avLst/>
          </a:prstGeom>
        </p:spPr>
      </p:pic>
      <p:pic>
        <p:nvPicPr>
          <p:cNvPr id="13" name="Picture 7">
            <a:extLst>
              <a:ext uri="{FF2B5EF4-FFF2-40B4-BE49-F238E27FC236}">
                <a16:creationId xmlns:a16="http://schemas.microsoft.com/office/drawing/2014/main" id="{4417AC45-4CB7-72E8-3723-B1A3D81FB6E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713775" y="5533690"/>
            <a:ext cx="493392" cy="495528"/>
          </a:xfrm>
          <a:prstGeom prst="rect">
            <a:avLst/>
          </a:prstGeom>
        </p:spPr>
      </p:pic>
      <p:pic>
        <p:nvPicPr>
          <p:cNvPr id="15" name="Graphic 14">
            <a:extLst>
              <a:ext uri="{FF2B5EF4-FFF2-40B4-BE49-F238E27FC236}">
                <a16:creationId xmlns:a16="http://schemas.microsoft.com/office/drawing/2014/main" id="{AE5941EF-B160-313A-DA99-73C86EDC4C17}"/>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46794"/>
          <a:stretch/>
        </p:blipFill>
        <p:spPr>
          <a:xfrm>
            <a:off x="10316909" y="2723673"/>
            <a:ext cx="1875091" cy="3600981"/>
          </a:xfrm>
          <a:prstGeom prst="rect">
            <a:avLst/>
          </a:prstGeom>
        </p:spPr>
      </p:pic>
      <p:pic>
        <p:nvPicPr>
          <p:cNvPr id="17" name="Graphic 16">
            <a:extLst>
              <a:ext uri="{FF2B5EF4-FFF2-40B4-BE49-F238E27FC236}">
                <a16:creationId xmlns:a16="http://schemas.microsoft.com/office/drawing/2014/main" id="{EEC16221-5852-F1A3-24D1-8EF5E907173A}"/>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41791"/>
          <a:stretch/>
        </p:blipFill>
        <p:spPr>
          <a:xfrm>
            <a:off x="3497179" y="6324654"/>
            <a:ext cx="910220" cy="541368"/>
          </a:xfrm>
          <a:prstGeom prst="rect">
            <a:avLst/>
          </a:prstGeom>
        </p:spPr>
      </p:pic>
      <p:pic>
        <p:nvPicPr>
          <p:cNvPr id="19" name="Graphic 18">
            <a:extLst>
              <a:ext uri="{FF2B5EF4-FFF2-40B4-BE49-F238E27FC236}">
                <a16:creationId xmlns:a16="http://schemas.microsoft.com/office/drawing/2014/main" id="{5D8B34C3-E35E-0B4E-1F8E-59C449A3C8DD}"/>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31904"/>
          <a:stretch/>
        </p:blipFill>
        <p:spPr>
          <a:xfrm>
            <a:off x="1601212" y="0"/>
            <a:ext cx="1032928" cy="718708"/>
          </a:xfrm>
          <a:prstGeom prst="rect">
            <a:avLst/>
          </a:prstGeom>
        </p:spPr>
      </p:pic>
    </p:spTree>
    <p:extLst>
      <p:ext uri="{BB962C8B-B14F-4D97-AF65-F5344CB8AC3E}">
        <p14:creationId xmlns:p14="http://schemas.microsoft.com/office/powerpoint/2010/main" val="36578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0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1FEFCE-5DDA-D353-F1BF-36752F5F079A}"/>
              </a:ext>
            </a:extLst>
          </p:cNvPr>
          <p:cNvPicPr>
            <a:picLocks noChangeAspect="1"/>
          </p:cNvPicPr>
          <p:nvPr userDrawn="1"/>
        </p:nvPicPr>
        <p:blipFill>
          <a:blip r:embed="rId2"/>
          <a:srcRect/>
          <a:stretch/>
        </p:blipFill>
        <p:spPr>
          <a:xfrm>
            <a:off x="0" y="2917"/>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877824" y="1325880"/>
            <a:ext cx="10460736" cy="2286000"/>
          </a:xfrm>
        </p:spPr>
        <p:txBody>
          <a:bodyPr anchor="b">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877824" y="3749040"/>
            <a:ext cx="10460736" cy="2286000"/>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1502723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02">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7" name="Rounded Rectangle 3">
            <a:extLst>
              <a:ext uri="{FF2B5EF4-FFF2-40B4-BE49-F238E27FC236}">
                <a16:creationId xmlns:a16="http://schemas.microsoft.com/office/drawing/2014/main" id="{B6718ABD-4EA5-E3C5-0225-F6671DCA53AD}"/>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D721A955-CA2D-A65D-6E60-DAAAA4ACFA3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1050"/>
          <a:stretch/>
        </p:blipFill>
        <p:spPr>
          <a:xfrm>
            <a:off x="0" y="2887579"/>
            <a:ext cx="2432421" cy="3604662"/>
          </a:xfrm>
          <a:prstGeom prst="rect">
            <a:avLst/>
          </a:prstGeom>
        </p:spPr>
      </p:pic>
      <p:pic>
        <p:nvPicPr>
          <p:cNvPr id="9" name="Graphic 8">
            <a:extLst>
              <a:ext uri="{FF2B5EF4-FFF2-40B4-BE49-F238E27FC236}">
                <a16:creationId xmlns:a16="http://schemas.microsoft.com/office/drawing/2014/main" id="{AB70155A-604C-AD00-BE69-4505C75CE01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t="15874" b="-1"/>
          <a:stretch/>
        </p:blipFill>
        <p:spPr>
          <a:xfrm rot="5400000">
            <a:off x="11281284" y="2493882"/>
            <a:ext cx="1032928" cy="887899"/>
          </a:xfrm>
          <a:prstGeom prst="rect">
            <a:avLst/>
          </a:prstGeom>
        </p:spPr>
      </p:pic>
      <p:pic>
        <p:nvPicPr>
          <p:cNvPr id="10" name="Graphic 9">
            <a:extLst>
              <a:ext uri="{FF2B5EF4-FFF2-40B4-BE49-F238E27FC236}">
                <a16:creationId xmlns:a16="http://schemas.microsoft.com/office/drawing/2014/main" id="{F74D1084-EF5E-D016-13E0-1840BDFFD0AE}"/>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b="-880"/>
          <a:stretch/>
        </p:blipFill>
        <p:spPr>
          <a:xfrm>
            <a:off x="9897978" y="5987153"/>
            <a:ext cx="490012" cy="505088"/>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313432"/>
            <a:ext cx="6327648" cy="3218688"/>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889032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0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1B9A11-4222-BB4A-66D3-D37C79AC57C1}"/>
              </a:ext>
            </a:extLst>
          </p:cNvPr>
          <p:cNvPicPr>
            <a:picLocks noChangeAspect="1"/>
          </p:cNvPicPr>
          <p:nvPr userDrawn="1"/>
        </p:nvPicPr>
        <p:blipFill rotWithShape="1">
          <a:blip r:embed="rId2"/>
          <a:srcRect l="-1" r="21" b="21"/>
          <a:stretch/>
        </p:blipFill>
        <p:spPr>
          <a:xfrm>
            <a:off x="-2595" y="1459"/>
            <a:ext cx="12197191" cy="6855082"/>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4654296" y="27432"/>
            <a:ext cx="7004304" cy="3566160"/>
          </a:xfrm>
        </p:spPr>
        <p:txBody>
          <a:bodyPr anchor="b">
            <a:noAutofit/>
          </a:bodyPr>
          <a:lstStyle>
            <a:lvl1pPr algn="ctr">
              <a:defRPr sz="60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4654295" y="3767328"/>
            <a:ext cx="7004303" cy="1161288"/>
          </a:xfrm>
        </p:spPr>
        <p:txBody>
          <a:bodyPr>
            <a:noAutofit/>
          </a:bodyPr>
          <a:lstStyle>
            <a:lvl1pPr marL="0" indent="0" algn="ctr">
              <a:buNone/>
              <a:defRPr sz="32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3329623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72C86F9-080E-93F7-C7B1-F5BEAD84E36E}"/>
              </a:ext>
            </a:extLst>
          </p:cNvPr>
          <p:cNvSpPr>
            <a:spLocks noGrp="1"/>
          </p:cNvSpPr>
          <p:nvPr>
            <p:ph type="title"/>
          </p:nvPr>
        </p:nvSpPr>
        <p:spPr>
          <a:xfrm>
            <a:off x="1078992" y="365760"/>
            <a:ext cx="10506456" cy="1655064"/>
          </a:xfrm>
        </p:spPr>
        <p:txBody>
          <a:bodyPr anchor="b"/>
          <a:lstStyle>
            <a:lvl1pPr>
              <a:defRPr>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097280" y="2432304"/>
            <a:ext cx="3108960" cy="3412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4736592" y="1920240"/>
            <a:ext cx="6620256"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Rounded Rectangle 11">
            <a:extLst>
              <a:ext uri="{FF2B5EF4-FFF2-40B4-BE49-F238E27FC236}">
                <a16:creationId xmlns:a16="http://schemas.microsoft.com/office/drawing/2014/main" id="{7FF98F94-8801-13BE-8EB4-01921AC196C8}"/>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B7BF5718-9534-FD92-79D7-ECC66603E70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r="62387"/>
          <a:stretch/>
        </p:blipFill>
        <p:spPr>
          <a:xfrm rot="5400000">
            <a:off x="1778676" y="5204330"/>
            <a:ext cx="907513" cy="2465321"/>
          </a:xfrm>
          <a:prstGeom prst="rect">
            <a:avLst/>
          </a:prstGeom>
        </p:spPr>
      </p:pic>
      <p:pic>
        <p:nvPicPr>
          <p:cNvPr id="9" name="Graphic 8">
            <a:extLst>
              <a:ext uri="{FF2B5EF4-FFF2-40B4-BE49-F238E27FC236}">
                <a16:creationId xmlns:a16="http://schemas.microsoft.com/office/drawing/2014/main" id="{4FF40650-9AD0-96F8-F702-185D1729AF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3558" y="5429608"/>
            <a:ext cx="406214" cy="415066"/>
          </a:xfrm>
          <a:prstGeom prst="rect">
            <a:avLst/>
          </a:prstGeom>
        </p:spPr>
      </p:pic>
      <p:pic>
        <p:nvPicPr>
          <p:cNvPr id="10" name="Graphic 9">
            <a:extLst>
              <a:ext uri="{FF2B5EF4-FFF2-40B4-BE49-F238E27FC236}">
                <a16:creationId xmlns:a16="http://schemas.microsoft.com/office/drawing/2014/main" id="{83AC8518-2F0B-6FC0-0C0E-6CE9D00EAC7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4860" b="-1"/>
          <a:stretch/>
        </p:blipFill>
        <p:spPr>
          <a:xfrm>
            <a:off x="10214191" y="365126"/>
            <a:ext cx="1032928" cy="1106730"/>
          </a:xfrm>
          <a:prstGeom prst="rect">
            <a:avLst/>
          </a:prstGeom>
        </p:spPr>
      </p:pic>
    </p:spTree>
    <p:extLst>
      <p:ext uri="{BB962C8B-B14F-4D97-AF65-F5344CB8AC3E}">
        <p14:creationId xmlns:p14="http://schemas.microsoft.com/office/powerpoint/2010/main" val="3196360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03">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B4AF60-AC65-3E7A-4A5D-EBF1A7030D9B}"/>
              </a:ext>
            </a:extLst>
          </p:cNvPr>
          <p:cNvPicPr>
            <a:picLocks noChangeAspect="1"/>
          </p:cNvPicPr>
          <p:nvPr userDrawn="1"/>
        </p:nvPicPr>
        <p:blipFill rotWithShape="1">
          <a:blip r:embed="rId2"/>
          <a:srcRect l="3063" b="3063"/>
          <a:stretch/>
        </p:blipFill>
        <p:spPr>
          <a:xfrm>
            <a:off x="1" y="2917"/>
            <a:ext cx="12197189" cy="6855082"/>
          </a:xfrm>
          <a:prstGeom prst="rect">
            <a:avLst/>
          </a:prstGeom>
        </p:spPr>
      </p:pic>
      <p:sp>
        <p:nvSpPr>
          <p:cNvPr id="12" name="Rounded Rectangle 4">
            <a:extLst>
              <a:ext uri="{FF2B5EF4-FFF2-40B4-BE49-F238E27FC236}">
                <a16:creationId xmlns:a16="http://schemas.microsoft.com/office/drawing/2014/main" id="{95671103-2960-81E2-9A76-0E7FDE6B3E55}"/>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276856"/>
            <a:ext cx="6327648" cy="3090672"/>
          </a:xfrm>
        </p:spPr>
        <p:txBody>
          <a:bodyPr anchor="ctr"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70126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02">
    <p:bg>
      <p:bgPr>
        <a:gradFill>
          <a:gsLst>
            <a:gs pos="33000">
              <a:schemeClr val="bg2"/>
            </a:gs>
            <a:gs pos="59000">
              <a:schemeClr val="tx2">
                <a:lumMod val="90000"/>
                <a:alpha val="65163"/>
              </a:schemeClr>
            </a:gs>
          </a:gsLst>
          <a:lin ang="16800000" scaled="0"/>
        </a:gradFill>
        <a:effectLst/>
      </p:bgPr>
    </p:bg>
    <p:spTree>
      <p:nvGrpSpPr>
        <p:cNvPr id="1" name=""/>
        <p:cNvGrpSpPr/>
        <p:nvPr/>
      </p:nvGrpSpPr>
      <p:grpSpPr>
        <a:xfrm>
          <a:off x="0" y="0"/>
          <a:ext cx="0" cy="0"/>
          <a:chOff x="0" y="0"/>
          <a:chExt cx="0" cy="0"/>
        </a:xfrm>
      </p:grpSpPr>
      <p:sp>
        <p:nvSpPr>
          <p:cNvPr id="7" name="Rounded Rectangle 4">
            <a:extLst>
              <a:ext uri="{FF2B5EF4-FFF2-40B4-BE49-F238E27FC236}">
                <a16:creationId xmlns:a16="http://schemas.microsoft.com/office/drawing/2014/main" id="{86060D16-E6F6-EA0E-E58E-526234AB6564}"/>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E0958AA-6F1A-C4A2-FB66-1A6F7F8834B5}"/>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a:off x="569419" y="4426479"/>
            <a:ext cx="1472805" cy="1596616"/>
          </a:xfrm>
          <a:prstGeom prst="rect">
            <a:avLst/>
          </a:prstGeom>
        </p:spPr>
      </p:pic>
      <p:pic>
        <p:nvPicPr>
          <p:cNvPr id="9" name="Graphic 8">
            <a:extLst>
              <a:ext uri="{FF2B5EF4-FFF2-40B4-BE49-F238E27FC236}">
                <a16:creationId xmlns:a16="http://schemas.microsoft.com/office/drawing/2014/main" id="{3DEADFA2-398E-9388-8295-063D31FB38E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095" b="-1"/>
          <a:stretch/>
        </p:blipFill>
        <p:spPr>
          <a:xfrm rot="3765410" flipV="1">
            <a:off x="1448505" y="4094575"/>
            <a:ext cx="862484" cy="934988"/>
          </a:xfrm>
          <a:prstGeom prst="rect">
            <a:avLst/>
          </a:prstGeom>
        </p:spPr>
      </p:pic>
      <p:pic>
        <p:nvPicPr>
          <p:cNvPr id="10" name="Picture 7">
            <a:extLst>
              <a:ext uri="{FF2B5EF4-FFF2-40B4-BE49-F238E27FC236}">
                <a16:creationId xmlns:a16="http://schemas.microsoft.com/office/drawing/2014/main" id="{D09A7588-8EFD-A0C5-4235-45B7D657ECF4}"/>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b="35453"/>
          <a:stretch/>
        </p:blipFill>
        <p:spPr>
          <a:xfrm>
            <a:off x="9469547" y="5719093"/>
            <a:ext cx="1756858" cy="1138907"/>
          </a:xfrm>
          <a:prstGeom prst="rect">
            <a:avLst/>
          </a:prstGeom>
        </p:spPr>
      </p:pic>
      <p:pic>
        <p:nvPicPr>
          <p:cNvPr id="13" name="Graphic 12">
            <a:extLst>
              <a:ext uri="{FF2B5EF4-FFF2-40B4-BE49-F238E27FC236}">
                <a16:creationId xmlns:a16="http://schemas.microsoft.com/office/drawing/2014/main" id="{EF04D7D6-513C-D18A-AF21-D10F0E5D3B8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 r="-750"/>
          <a:stretch/>
        </p:blipFill>
        <p:spPr>
          <a:xfrm>
            <a:off x="8844546" y="50582"/>
            <a:ext cx="1307037" cy="1325563"/>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7671816"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499728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03">
    <p:bg>
      <p:bgPr>
        <a:solidFill>
          <a:schemeClr val="tx2"/>
        </a:solidFill>
        <a:effectLst/>
      </p:bgPr>
    </p:bg>
    <p:spTree>
      <p:nvGrpSpPr>
        <p:cNvPr id="1" name=""/>
        <p:cNvGrpSpPr/>
        <p:nvPr/>
      </p:nvGrpSpPr>
      <p:grpSpPr>
        <a:xfrm>
          <a:off x="0" y="0"/>
          <a:ext cx="0" cy="0"/>
          <a:chOff x="0" y="0"/>
          <a:chExt cx="0" cy="0"/>
        </a:xfrm>
      </p:grpSpPr>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30CE72F6-1D9D-E61E-F1EE-2861FDF7654A}"/>
              </a:ext>
            </a:extLst>
          </p:cNvPr>
          <p:cNvSpPr>
            <a:spLocks noGrp="1"/>
          </p:cNvSpPr>
          <p:nvPr>
            <p:ph idx="1"/>
          </p:nvPr>
        </p:nvSpPr>
        <p:spPr>
          <a:xfrm>
            <a:off x="1170432" y="2459736"/>
            <a:ext cx="2843784" cy="309067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4233672" y="2523744"/>
            <a:ext cx="6693408" cy="3273552"/>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8549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04">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98299DF-E702-8750-30F5-798D7C96AA46}"/>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11" name="Content Placeholder 2">
            <a:extLst>
              <a:ext uri="{FF2B5EF4-FFF2-40B4-BE49-F238E27FC236}">
                <a16:creationId xmlns:a16="http://schemas.microsoft.com/office/drawing/2014/main" id="{6EFAE94C-C299-8167-1BD9-4FC98C04C63C}"/>
              </a:ext>
            </a:extLst>
          </p:cNvPr>
          <p:cNvSpPr>
            <a:spLocks noGrp="1"/>
          </p:cNvSpPr>
          <p:nvPr>
            <p:ph idx="13"/>
          </p:nvPr>
        </p:nvSpPr>
        <p:spPr>
          <a:xfrm>
            <a:off x="1207008" y="2523744"/>
            <a:ext cx="9720072" cy="325526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dirty="0"/>
              <a:t>8/6/20XX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4" name="Rounded Rectangle 6">
            <a:extLst>
              <a:ext uri="{FF2B5EF4-FFF2-40B4-BE49-F238E27FC236}">
                <a16:creationId xmlns:a16="http://schemas.microsoft.com/office/drawing/2014/main" id="{1B32A35F-9C9A-7C7D-DE93-B55FFF07D66E}"/>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84807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break 03">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51A8B-A15C-2A94-1E48-F9615101DF48}"/>
              </a:ext>
            </a:extLst>
          </p:cNvPr>
          <p:cNvPicPr>
            <a:picLocks noChangeAspect="1"/>
          </p:cNvPicPr>
          <p:nvPr userDrawn="1"/>
        </p:nvPicPr>
        <p:blipFill rotWithShape="1">
          <a:blip r:embed="rId2"/>
          <a:srcRect l="8991" t="11245" r="3785" b="1531"/>
          <a:stretch/>
        </p:blipFill>
        <p:spPr>
          <a:xfrm>
            <a:off x="0" y="2917"/>
            <a:ext cx="12197192" cy="6855083"/>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612648" y="1600200"/>
            <a:ext cx="10991088" cy="3657600"/>
          </a:xfrm>
        </p:spPr>
        <p:txBody>
          <a:bodyPr anchor="ctr">
            <a:noAutofit/>
          </a:bodyPr>
          <a:lstStyle>
            <a:lvl1pPr algn="ctr">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0994920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04">
    <p:bg>
      <p:bgPr>
        <a:gradFill>
          <a:gsLst>
            <a:gs pos="33000">
              <a:schemeClr val="bg2"/>
            </a:gs>
            <a:gs pos="59000">
              <a:schemeClr val="tx2">
                <a:lumMod val="90000"/>
                <a:alpha val="65163"/>
              </a:schemeClr>
            </a:gs>
          </a:gsLst>
          <a:lin ang="13800000" scaled="0"/>
        </a:gradFill>
        <a:effectLst/>
      </p:bgPr>
    </p:bg>
    <p:spTree>
      <p:nvGrpSpPr>
        <p:cNvPr id="1" name=""/>
        <p:cNvGrpSpPr/>
        <p:nvPr/>
      </p:nvGrpSpPr>
      <p:grpSpPr>
        <a:xfrm>
          <a:off x="0" y="0"/>
          <a:ext cx="0" cy="0"/>
          <a:chOff x="0" y="0"/>
          <a:chExt cx="0" cy="0"/>
        </a:xfrm>
      </p:grpSpPr>
      <p:sp>
        <p:nvSpPr>
          <p:cNvPr id="11" name="Rounded Rectangle 4">
            <a:extLst>
              <a:ext uri="{FF2B5EF4-FFF2-40B4-BE49-F238E27FC236}">
                <a16:creationId xmlns:a16="http://schemas.microsoft.com/office/drawing/2014/main" id="{5697808D-10E0-D8A5-5D07-E176EBB8F2BB}"/>
              </a:ext>
            </a:extLst>
          </p:cNvPr>
          <p:cNvSpPr/>
          <p:nvPr userDrawn="1"/>
        </p:nvSpPr>
        <p:spPr>
          <a:xfrm>
            <a:off x="256674" y="256674"/>
            <a:ext cx="11678651" cy="6352673"/>
          </a:xfrm>
          <a:prstGeom prst="roundRect">
            <a:avLst>
              <a:gd name="adj" fmla="val 4303"/>
            </a:avLst>
          </a:prstGeom>
          <a:no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7">
            <a:extLst>
              <a:ext uri="{FF2B5EF4-FFF2-40B4-BE49-F238E27FC236}">
                <a16:creationId xmlns:a16="http://schemas.microsoft.com/office/drawing/2014/main" id="{0234D012-F86E-04CE-78C8-2C5A6613028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004" r="-148"/>
          <a:stretch/>
        </p:blipFill>
        <p:spPr>
          <a:xfrm rot="5400000">
            <a:off x="6378170" y="40082"/>
            <a:ext cx="1579705" cy="1600089"/>
          </a:xfrm>
          <a:prstGeom prst="rect">
            <a:avLst/>
          </a:prstGeom>
        </p:spPr>
      </p:pic>
      <p:pic>
        <p:nvPicPr>
          <p:cNvPr id="15" name="Picture 7">
            <a:extLst>
              <a:ext uri="{FF2B5EF4-FFF2-40B4-BE49-F238E27FC236}">
                <a16:creationId xmlns:a16="http://schemas.microsoft.com/office/drawing/2014/main" id="{0BC42061-F838-920E-632E-10EDE7E5539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6239" r="25335" b="-1"/>
          <a:stretch/>
        </p:blipFill>
        <p:spPr>
          <a:xfrm rot="16200000">
            <a:off x="6298833" y="-161472"/>
            <a:ext cx="752715" cy="1075657"/>
          </a:xfrm>
          <a:prstGeom prst="rect">
            <a:avLst/>
          </a:prstGeom>
        </p:spPr>
      </p:pic>
      <p:pic>
        <p:nvPicPr>
          <p:cNvPr id="16" name="Graphic 15">
            <a:extLst>
              <a:ext uri="{FF2B5EF4-FFF2-40B4-BE49-F238E27FC236}">
                <a16:creationId xmlns:a16="http://schemas.microsoft.com/office/drawing/2014/main" id="{58BEE67F-530E-E41D-FD19-2615180DC3FB}"/>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r="15931"/>
          <a:stretch/>
        </p:blipFill>
        <p:spPr>
          <a:xfrm>
            <a:off x="10439102" y="4145165"/>
            <a:ext cx="1780703" cy="2164311"/>
          </a:xfrm>
          <a:prstGeom prst="rect">
            <a:avLst/>
          </a:prstGeom>
        </p:spPr>
      </p:pic>
      <p:pic>
        <p:nvPicPr>
          <p:cNvPr id="17" name="Graphic 16">
            <a:extLst>
              <a:ext uri="{FF2B5EF4-FFF2-40B4-BE49-F238E27FC236}">
                <a16:creationId xmlns:a16="http://schemas.microsoft.com/office/drawing/2014/main" id="{82CFCA46-5F5A-867F-B19C-4F9ED5BA15A2}"/>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r="46794"/>
          <a:stretch/>
        </p:blipFill>
        <p:spPr>
          <a:xfrm rot="10800000">
            <a:off x="-27806" y="2452933"/>
            <a:ext cx="1370742" cy="2632414"/>
          </a:xfrm>
          <a:prstGeom prst="rect">
            <a:avLst/>
          </a:prstGeom>
        </p:spPr>
      </p:pic>
      <p:pic>
        <p:nvPicPr>
          <p:cNvPr id="18" name="Graphic 17">
            <a:extLst>
              <a:ext uri="{FF2B5EF4-FFF2-40B4-BE49-F238E27FC236}">
                <a16:creationId xmlns:a16="http://schemas.microsoft.com/office/drawing/2014/main" id="{11E8F80C-ACB2-552E-4433-1A8A2708F18F}"/>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t="1" b="-9728"/>
          <a:stretch/>
        </p:blipFill>
        <p:spPr>
          <a:xfrm rot="18286209">
            <a:off x="887827" y="4958926"/>
            <a:ext cx="910220" cy="1020507"/>
          </a:xfrm>
          <a:prstGeom prst="rect">
            <a:avLst/>
          </a:prstGeom>
        </p:spPr>
      </p:pic>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1078992" y="365760"/>
            <a:ext cx="10277856" cy="1655064"/>
          </a:xfrm>
        </p:spPr>
        <p:txBody>
          <a:bodyPr anchor="b"/>
          <a:lstStyle>
            <a:lvl1pPr>
              <a:defRPr>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p:nvPr>
        </p:nvSpPr>
        <p:spPr>
          <a:xfrm>
            <a:off x="3575304" y="2441448"/>
            <a:ext cx="3602736" cy="3575304"/>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D1DCC4A1-0DB3-3480-3A1A-78FC85FE7ECE}"/>
              </a:ext>
            </a:extLst>
          </p:cNvPr>
          <p:cNvSpPr>
            <a:spLocks noGrp="1"/>
          </p:cNvSpPr>
          <p:nvPr>
            <p:ph idx="13"/>
          </p:nvPr>
        </p:nvSpPr>
        <p:spPr>
          <a:xfrm>
            <a:off x="8293608" y="2441447"/>
            <a:ext cx="3063240" cy="3575303"/>
          </a:xfrm>
        </p:spPr>
        <p:txBody>
          <a:bodyPr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dirty="0"/>
              <a:t>8/6/20XX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3438508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ACFCA6-7ECE-9BFB-9389-6DB74C862850}"/>
              </a:ext>
            </a:extLst>
          </p:cNvPr>
          <p:cNvPicPr>
            <a:picLocks noChangeAspect="1"/>
          </p:cNvPicPr>
          <p:nvPr userDrawn="1"/>
        </p:nvPicPr>
        <p:blipFill>
          <a:blip r:embed="rId2"/>
          <a:srcRect l="21" r="21"/>
          <a:stretch/>
        </p:blipFill>
        <p:spPr>
          <a:xfrm>
            <a:off x="-5192" y="-1"/>
            <a:ext cx="12197192" cy="6858001"/>
          </a:xfrm>
          <a:prstGeom prst="rect">
            <a:avLst/>
          </a:prstGeom>
        </p:spPr>
      </p:pic>
      <p:sp>
        <p:nvSpPr>
          <p:cNvPr id="2" name="Title 1">
            <a:extLst>
              <a:ext uri="{FF2B5EF4-FFF2-40B4-BE49-F238E27FC236}">
                <a16:creationId xmlns:a16="http://schemas.microsoft.com/office/drawing/2014/main" id="{2456FD49-C258-4333-9422-358C976A341C}"/>
              </a:ext>
            </a:extLst>
          </p:cNvPr>
          <p:cNvSpPr>
            <a:spLocks noGrp="1"/>
          </p:cNvSpPr>
          <p:nvPr>
            <p:ph type="ctrTitle"/>
          </p:nvPr>
        </p:nvSpPr>
        <p:spPr>
          <a:xfrm>
            <a:off x="1133856" y="56450"/>
            <a:ext cx="9912096" cy="2743200"/>
          </a:xfrm>
        </p:spPr>
        <p:txBody>
          <a:bodyPr anchor="b">
            <a:noAutofit/>
          </a:bodyPr>
          <a:lstStyle>
            <a:lvl1pPr algn="l">
              <a:defRPr sz="6600" b="1" i="0" cap="none" spc="-150" baseline="0">
                <a:solidFill>
                  <a:schemeClr val="accent2">
                    <a:lumMod val="25000"/>
                  </a:schemeClr>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3575304" y="3110546"/>
            <a:ext cx="4114800" cy="2743200"/>
          </a:xfrm>
        </p:spPr>
        <p:txBody>
          <a:bodyPr>
            <a:noAutofit/>
          </a:bodyPr>
          <a:lstStyle>
            <a:lvl1pPr marL="0" indent="0" algn="l">
              <a:lnSpc>
                <a:spcPct val="150000"/>
              </a:lnSpc>
              <a:spcBef>
                <a:spcPts val="0"/>
              </a:spcBef>
              <a:buNone/>
              <a:defRPr sz="2400" b="0" cap="all" baseline="0">
                <a:solidFill>
                  <a:schemeClr val="accent2">
                    <a:lumMod val="2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Tree>
    <p:extLst>
      <p:ext uri="{BB962C8B-B14F-4D97-AF65-F5344CB8AC3E}">
        <p14:creationId xmlns:p14="http://schemas.microsoft.com/office/powerpoint/2010/main" val="2960835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endParaRPr lang="en-US" noProof="0" dirty="0"/>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563001"/>
            <a:ext cx="2743200" cy="22860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noProof="0" dirty="0"/>
              <a:t>8/6/20XX</a:t>
            </a:r>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563001"/>
            <a:ext cx="4114800" cy="2286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9375912" y="6563001"/>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hdr="0" ftr="0" dt="0"/>
  <p:txStyles>
    <p:titleStyle>
      <a:lvl1pPr algn="l" defTabSz="914400" rtl="0" eaLnBrk="1" latinLnBrk="0" hangingPunct="1">
        <a:lnSpc>
          <a:spcPct val="90000"/>
        </a:lnSpc>
        <a:spcBef>
          <a:spcPct val="0"/>
        </a:spcBef>
        <a:buNone/>
        <a:defRPr sz="4400" b="1" i="0" kern="1200">
          <a:solidFill>
            <a:schemeClr val="accent2">
              <a:lumMod val="25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accent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EF7BD-FE81-4B20-8DC5-0B3EB736F9F8}"/>
              </a:ext>
            </a:extLst>
          </p:cNvPr>
          <p:cNvSpPr>
            <a:spLocks noGrp="1"/>
          </p:cNvSpPr>
          <p:nvPr>
            <p:ph type="ctrTitle"/>
          </p:nvPr>
        </p:nvSpPr>
        <p:spPr>
          <a:xfrm>
            <a:off x="612648" y="502920"/>
            <a:ext cx="10954512" cy="3246120"/>
          </a:xfrm>
        </p:spPr>
        <p:txBody>
          <a:bodyPr anchor="b"/>
          <a:lstStyle/>
          <a:p>
            <a:r>
              <a:rPr lang="en-US" dirty="0"/>
              <a:t>Taxi Station Management</a:t>
            </a:r>
          </a:p>
        </p:txBody>
      </p:sp>
      <p:sp>
        <p:nvSpPr>
          <p:cNvPr id="3" name="Subtitle 2">
            <a:extLst>
              <a:ext uri="{FF2B5EF4-FFF2-40B4-BE49-F238E27FC236}">
                <a16:creationId xmlns:a16="http://schemas.microsoft.com/office/drawing/2014/main" id="{1AFF0EFE-C50F-44EB-8978-B97795477C9E}"/>
              </a:ext>
            </a:extLst>
          </p:cNvPr>
          <p:cNvSpPr>
            <a:spLocks noGrp="1"/>
          </p:cNvSpPr>
          <p:nvPr>
            <p:ph type="subTitle" idx="1"/>
          </p:nvPr>
        </p:nvSpPr>
        <p:spPr>
          <a:xfrm>
            <a:off x="612648" y="3758183"/>
            <a:ext cx="10954512" cy="1307592"/>
          </a:xfrm>
        </p:spPr>
        <p:txBody>
          <a:bodyPr vert="horz" lIns="91440" tIns="45720" rIns="91440" bIns="45720" rtlCol="0" anchor="t">
            <a:noAutofit/>
          </a:bodyPr>
          <a:lstStyle/>
          <a:p>
            <a:r>
              <a:rPr lang="he-IL" dirty="0"/>
              <a:t> </a:t>
            </a:r>
            <a:r>
              <a:rPr lang="en-US" dirty="0"/>
              <a:t>C </a:t>
            </a:r>
            <a:r>
              <a:rPr lang="he-IL" dirty="0"/>
              <a:t>פרויקט מסכם בתכנות בשפת</a:t>
            </a:r>
            <a:endParaRPr lang="en-US" dirty="0"/>
          </a:p>
        </p:txBody>
      </p:sp>
      <p:sp>
        <p:nvSpPr>
          <p:cNvPr id="6" name="Subtitle 2">
            <a:extLst>
              <a:ext uri="{FF2B5EF4-FFF2-40B4-BE49-F238E27FC236}">
                <a16:creationId xmlns:a16="http://schemas.microsoft.com/office/drawing/2014/main" id="{45906387-BB90-B375-4FCC-087D217A9209}"/>
              </a:ext>
            </a:extLst>
          </p:cNvPr>
          <p:cNvSpPr txBox="1">
            <a:spLocks/>
          </p:cNvSpPr>
          <p:nvPr/>
        </p:nvSpPr>
        <p:spPr>
          <a:xfrm>
            <a:off x="6715432" y="5815092"/>
            <a:ext cx="6813755" cy="539988"/>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3200" b="0" i="0" kern="1200" cap="all" baseline="0">
                <a:solidFill>
                  <a:schemeClr val="accent2">
                    <a:lumMod val="2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he-IL" sz="1800" dirty="0"/>
              <a:t>מגיש נתאי קוממי ת.ז: 328450689</a:t>
            </a:r>
            <a:endParaRPr lang="en-US" sz="1800" dirty="0"/>
          </a:p>
        </p:txBody>
      </p:sp>
    </p:spTree>
    <p:extLst>
      <p:ext uri="{BB962C8B-B14F-4D97-AF65-F5344CB8AC3E}">
        <p14:creationId xmlns:p14="http://schemas.microsoft.com/office/powerpoint/2010/main" val="128263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4654295" y="-1783080"/>
            <a:ext cx="7004304" cy="3566160"/>
          </a:xfrm>
          <a:noFill/>
        </p:spPr>
        <p:txBody>
          <a:bodyPr>
            <a:noAutofit/>
          </a:bodyPr>
          <a:lstStyle/>
          <a:p>
            <a:r>
              <a:rPr lang="he-IL" dirty="0"/>
              <a:t>בניית התחנה</a:t>
            </a:r>
            <a:endParaRPr lang="en-US" dirty="0"/>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4654296" y="2138451"/>
            <a:ext cx="7004303" cy="1161288"/>
          </a:xfrm>
          <a:noFill/>
        </p:spPr>
        <p:txBody>
          <a:bodyPr>
            <a:noAutofit/>
          </a:bodyPr>
          <a:lstStyle/>
          <a:p>
            <a:pPr rtl="1"/>
            <a:r>
              <a:rPr lang="he-IL" sz="2000" dirty="0"/>
              <a:t>קובץ </a:t>
            </a:r>
            <a:r>
              <a:rPr lang="en-US" sz="2000" dirty="0"/>
              <a:t>header</a:t>
            </a:r>
            <a:r>
              <a:rPr lang="he-IL" sz="2000" dirty="0"/>
              <a:t> </a:t>
            </a:r>
            <a:r>
              <a:rPr lang="en-US" sz="2000" dirty="0"/>
              <a:t> </a:t>
            </a:r>
            <a:r>
              <a:rPr lang="he-IL" sz="2000" dirty="0"/>
              <a:t>לבניית מבנים מוגדרים שכאשר נקרא להם בקובץ הראשי הם ייוצרו בזיכרון כפי שהגדרנו.</a:t>
            </a:r>
          </a:p>
        </p:txBody>
      </p:sp>
      <p:sp>
        <p:nvSpPr>
          <p:cNvPr id="5" name="TextBox 4">
            <a:extLst>
              <a:ext uri="{FF2B5EF4-FFF2-40B4-BE49-F238E27FC236}">
                <a16:creationId xmlns:a16="http://schemas.microsoft.com/office/drawing/2014/main" id="{6B31ECFC-167F-F4A6-40F8-AA97B4FAD8F2}"/>
              </a:ext>
            </a:extLst>
          </p:cNvPr>
          <p:cNvSpPr txBox="1"/>
          <p:nvPr/>
        </p:nvSpPr>
        <p:spPr>
          <a:xfrm>
            <a:off x="5108447" y="3185439"/>
            <a:ext cx="6096000" cy="2144177"/>
          </a:xfrm>
          <a:prstGeom prst="rect">
            <a:avLst/>
          </a:prstGeom>
          <a:noFill/>
        </p:spPr>
        <p:txBody>
          <a:bodyPr wrap="square">
            <a:spAutoFit/>
          </a:bodyPr>
          <a:lstStyle/>
          <a:p>
            <a:pPr marR="0" lvl="0" algn="ctr" rtl="1" fontAlgn="auto">
              <a:spcBef>
                <a:spcPts val="1000"/>
              </a:spcBef>
              <a:spcAft>
                <a:spcPts val="0"/>
              </a:spcAft>
              <a:buClrTx/>
              <a:buSzTx/>
              <a:tabLst/>
              <a:defRPr/>
            </a:pPr>
            <a:r>
              <a:rPr lang="he-IL" sz="2000" cap="all" dirty="0">
                <a:solidFill>
                  <a:schemeClr val="accent2">
                    <a:lumMod val="25000"/>
                  </a:schemeClr>
                </a:solidFill>
              </a:rPr>
              <a:t>מבנים:</a:t>
            </a:r>
          </a:p>
          <a:p>
            <a:pPr marR="0" lvl="0" algn="ctr" rtl="1" fontAlgn="auto">
              <a:spcBef>
                <a:spcPts val="1000"/>
              </a:spcBef>
              <a:spcAft>
                <a:spcPts val="0"/>
              </a:spcAft>
              <a:buClrTx/>
              <a:buSzTx/>
              <a:tabLst/>
              <a:defRPr/>
            </a:pPr>
            <a:r>
              <a:rPr lang="he-IL" sz="2000" cap="all" dirty="0">
                <a:solidFill>
                  <a:schemeClr val="accent2">
                    <a:lumMod val="25000"/>
                  </a:schemeClr>
                </a:solidFill>
              </a:rPr>
              <a:t>מבנה נסיעה </a:t>
            </a:r>
            <a:r>
              <a:rPr lang="en-US" sz="2000" cap="all" dirty="0">
                <a:solidFill>
                  <a:schemeClr val="accent2">
                    <a:lumMod val="25000"/>
                  </a:schemeClr>
                </a:solidFill>
              </a:rPr>
              <a:t>Ride</a:t>
            </a:r>
            <a:endParaRPr lang="he-IL" sz="2000" cap="all" dirty="0">
              <a:solidFill>
                <a:schemeClr val="accent2">
                  <a:lumMod val="25000"/>
                </a:schemeClr>
              </a:solidFill>
            </a:endParaRPr>
          </a:p>
          <a:p>
            <a:pPr marR="0" lvl="0" algn="ctr" rtl="1" fontAlgn="auto">
              <a:spcBef>
                <a:spcPts val="1000"/>
              </a:spcBef>
              <a:spcAft>
                <a:spcPts val="0"/>
              </a:spcAft>
              <a:buClrTx/>
              <a:buSzTx/>
              <a:tabLst/>
              <a:defRPr/>
            </a:pPr>
            <a:r>
              <a:rPr lang="he-IL" sz="2000" cap="all" dirty="0">
                <a:solidFill>
                  <a:schemeClr val="accent2">
                    <a:lumMod val="25000"/>
                  </a:schemeClr>
                </a:solidFill>
              </a:rPr>
              <a:t>מבנה קו מונית</a:t>
            </a:r>
          </a:p>
          <a:p>
            <a:pPr algn="ctr" rtl="1">
              <a:spcBef>
                <a:spcPts val="1000"/>
              </a:spcBef>
              <a:defRPr/>
            </a:pPr>
            <a:r>
              <a:rPr lang="he-IL" sz="2000" cap="all" dirty="0">
                <a:solidFill>
                  <a:schemeClr val="accent2">
                    <a:lumMod val="25000"/>
                  </a:schemeClr>
                </a:solidFill>
              </a:rPr>
              <a:t>מבנה תחנה</a:t>
            </a:r>
          </a:p>
          <a:p>
            <a:pPr marR="0" lvl="0" algn="ctr" rtl="1" fontAlgn="auto">
              <a:spcBef>
                <a:spcPts val="1000"/>
              </a:spcBef>
              <a:spcAft>
                <a:spcPts val="0"/>
              </a:spcAft>
              <a:buClrTx/>
              <a:buSzTx/>
              <a:tabLst/>
              <a:defRPr/>
            </a:pPr>
            <a:endParaRPr lang="he-IL" sz="2000" cap="all" dirty="0">
              <a:solidFill>
                <a:schemeClr val="accent2">
                  <a:lumMod val="25000"/>
                </a:schemeClr>
              </a:solidFill>
            </a:endParaRPr>
          </a:p>
        </p:txBody>
      </p:sp>
    </p:spTree>
    <p:extLst>
      <p:ext uri="{BB962C8B-B14F-4D97-AF65-F5344CB8AC3E}">
        <p14:creationId xmlns:p14="http://schemas.microsoft.com/office/powerpoint/2010/main" val="1371737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1078992" y="365760"/>
            <a:ext cx="10277856" cy="1655064"/>
          </a:xfrm>
          <a:noFill/>
        </p:spPr>
        <p:txBody>
          <a:bodyPr anchor="b">
            <a:noAutofit/>
          </a:bodyPr>
          <a:lstStyle/>
          <a:p>
            <a:pPr marR="0" lvl="0" algn="ctr" rtl="1" fontAlgn="auto">
              <a:spcBef>
                <a:spcPts val="1000"/>
              </a:spcBef>
              <a:spcAft>
                <a:spcPts val="0"/>
              </a:spcAft>
              <a:buClrTx/>
              <a:buSzTx/>
              <a:tabLst/>
              <a:defRPr/>
            </a:pPr>
            <a:r>
              <a:rPr lang="he-IL" cap="all" dirty="0"/>
              <a:t>מבנה נסיעה </a:t>
            </a:r>
            <a:r>
              <a:rPr lang="en-US" cap="all" dirty="0"/>
              <a:t>Ride</a:t>
            </a:r>
            <a:endParaRPr lang="he-IL" cap="all" dirty="0"/>
          </a:p>
        </p:txBody>
      </p:sp>
      <p:sp>
        <p:nvSpPr>
          <p:cNvPr id="10" name="Slide Number Placeholder 9">
            <a:extLst>
              <a:ext uri="{FF2B5EF4-FFF2-40B4-BE49-F238E27FC236}">
                <a16:creationId xmlns:a16="http://schemas.microsoft.com/office/drawing/2014/main" id="{FD7B9109-9E17-1A7A-3A9A-0F1C07BF36A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3</a:t>
            </a:fld>
            <a:endParaRPr lang="en-US" dirty="0"/>
          </a:p>
        </p:txBody>
      </p:sp>
      <p:sp>
        <p:nvSpPr>
          <p:cNvPr id="5" name="Rectangle 2">
            <a:extLst>
              <a:ext uri="{FF2B5EF4-FFF2-40B4-BE49-F238E27FC236}">
                <a16:creationId xmlns:a16="http://schemas.microsoft.com/office/drawing/2014/main" id="{CB1C9792-30E0-992E-A5A7-E419824C901D}"/>
              </a:ext>
            </a:extLst>
          </p:cNvPr>
          <p:cNvSpPr>
            <a:spLocks noGrp="1" noChangeArrowheads="1"/>
          </p:cNvSpPr>
          <p:nvPr>
            <p:ph idx="1"/>
          </p:nvPr>
        </p:nvSpPr>
        <p:spPr bwMode="auto">
          <a:xfrm>
            <a:off x="2572377" y="2444131"/>
            <a:ext cx="8784471" cy="341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r" rtl="1"/>
            <a:r>
              <a:rPr lang="he-IL" sz="1800" dirty="0"/>
              <a:t>פה בעצם אנחנו מגדירים מה קורה פר נסיעה (קבוע כל שעה) כמה נוסעים יש.</a:t>
            </a:r>
          </a:p>
        </p:txBody>
      </p:sp>
      <p:pic>
        <p:nvPicPr>
          <p:cNvPr id="14" name="Picture 13">
            <a:extLst>
              <a:ext uri="{FF2B5EF4-FFF2-40B4-BE49-F238E27FC236}">
                <a16:creationId xmlns:a16="http://schemas.microsoft.com/office/drawing/2014/main" id="{4DC2E456-BDFF-609B-34AB-9A9DCC1BF528}"/>
              </a:ext>
            </a:extLst>
          </p:cNvPr>
          <p:cNvPicPr>
            <a:picLocks noChangeAspect="1"/>
          </p:cNvPicPr>
          <p:nvPr/>
        </p:nvPicPr>
        <p:blipFill>
          <a:blip r:embed="rId3"/>
          <a:stretch>
            <a:fillRect/>
          </a:stretch>
        </p:blipFill>
        <p:spPr>
          <a:xfrm>
            <a:off x="4616884" y="3819525"/>
            <a:ext cx="2958231" cy="1090661"/>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1FAE-E850-547C-828B-4B58A6CA5D9F}"/>
              </a:ext>
            </a:extLst>
          </p:cNvPr>
          <p:cNvSpPr>
            <a:spLocks noGrp="1"/>
          </p:cNvSpPr>
          <p:nvPr>
            <p:ph type="title"/>
          </p:nvPr>
        </p:nvSpPr>
        <p:spPr/>
        <p:txBody>
          <a:bodyPr/>
          <a:lstStyle/>
          <a:p>
            <a:pPr algn="ctr" rtl="1"/>
            <a:r>
              <a:rPr lang="he-IL" cap="all" dirty="0"/>
              <a:t>מבנה קו מונית </a:t>
            </a:r>
            <a:endParaRPr lang="en-US" dirty="0"/>
          </a:p>
        </p:txBody>
      </p:sp>
      <p:sp>
        <p:nvSpPr>
          <p:cNvPr id="3" name="Content Placeholder 2">
            <a:extLst>
              <a:ext uri="{FF2B5EF4-FFF2-40B4-BE49-F238E27FC236}">
                <a16:creationId xmlns:a16="http://schemas.microsoft.com/office/drawing/2014/main" id="{FB259811-EE30-7824-6501-DBB1E201D560}"/>
              </a:ext>
            </a:extLst>
          </p:cNvPr>
          <p:cNvSpPr>
            <a:spLocks noGrp="1"/>
          </p:cNvSpPr>
          <p:nvPr>
            <p:ph idx="1"/>
          </p:nvPr>
        </p:nvSpPr>
        <p:spPr>
          <a:xfrm>
            <a:off x="2757618" y="1362456"/>
            <a:ext cx="8474202" cy="3218688"/>
          </a:xfrm>
        </p:spPr>
        <p:txBody>
          <a:bodyPr/>
          <a:lstStyle/>
          <a:p>
            <a:pPr algn="r" rtl="1"/>
            <a:r>
              <a:rPr lang="he-IL" dirty="0"/>
              <a:t>פה בעצם מאפיינים את התכונות של הקו עצמו (מספר הקו, תעריף, משך נסיעה אחרי יציאה, קיבולת, 24 נסיעות בכל יום, הכנסה כללית של הקו, כמות הכללית של הנוסעים שעלו לקו)</a:t>
            </a:r>
          </a:p>
          <a:p>
            <a:pPr algn="r" rtl="1"/>
            <a:endParaRPr lang="en-US" dirty="0"/>
          </a:p>
        </p:txBody>
      </p:sp>
      <p:sp>
        <p:nvSpPr>
          <p:cNvPr id="4" name="Slide Number Placeholder 3">
            <a:extLst>
              <a:ext uri="{FF2B5EF4-FFF2-40B4-BE49-F238E27FC236}">
                <a16:creationId xmlns:a16="http://schemas.microsoft.com/office/drawing/2014/main" id="{C607A51E-EA76-0C0D-D364-7024D26E73DC}"/>
              </a:ext>
            </a:extLst>
          </p:cNvPr>
          <p:cNvSpPr>
            <a:spLocks noGrp="1"/>
          </p:cNvSpPr>
          <p:nvPr>
            <p:ph type="sldNum" sz="quarter" idx="12"/>
          </p:nvPr>
        </p:nvSpPr>
        <p:spPr/>
        <p:txBody>
          <a:bodyPr/>
          <a:lstStyle/>
          <a:p>
            <a:fld id="{CBD12358-51D2-46B3-9BDE-DF29528B9454}" type="slidenum">
              <a:rPr lang="en-US" smtClean="0"/>
              <a:t>4</a:t>
            </a:fld>
            <a:endParaRPr lang="en-US" dirty="0"/>
          </a:p>
        </p:txBody>
      </p:sp>
      <p:pic>
        <p:nvPicPr>
          <p:cNvPr id="8" name="Picture 7">
            <a:extLst>
              <a:ext uri="{FF2B5EF4-FFF2-40B4-BE49-F238E27FC236}">
                <a16:creationId xmlns:a16="http://schemas.microsoft.com/office/drawing/2014/main" id="{F19E2B3C-ABE4-2EE3-8628-08097970FC70}"/>
              </a:ext>
            </a:extLst>
          </p:cNvPr>
          <p:cNvPicPr>
            <a:picLocks noChangeAspect="1"/>
          </p:cNvPicPr>
          <p:nvPr/>
        </p:nvPicPr>
        <p:blipFill>
          <a:blip r:embed="rId2"/>
          <a:stretch>
            <a:fillRect/>
          </a:stretch>
        </p:blipFill>
        <p:spPr>
          <a:xfrm>
            <a:off x="4861018" y="3429000"/>
            <a:ext cx="2469963" cy="1930834"/>
          </a:xfrm>
          <a:prstGeom prst="rect">
            <a:avLst/>
          </a:prstGeom>
        </p:spPr>
      </p:pic>
    </p:spTree>
    <p:extLst>
      <p:ext uri="{BB962C8B-B14F-4D97-AF65-F5344CB8AC3E}">
        <p14:creationId xmlns:p14="http://schemas.microsoft.com/office/powerpoint/2010/main" val="34419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51516-BEAA-9234-201D-80FA0172C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E0755-0AD6-F48D-B9AD-F5BCE6DFD425}"/>
              </a:ext>
            </a:extLst>
          </p:cNvPr>
          <p:cNvSpPr>
            <a:spLocks noGrp="1"/>
          </p:cNvSpPr>
          <p:nvPr>
            <p:ph type="title"/>
          </p:nvPr>
        </p:nvSpPr>
        <p:spPr/>
        <p:txBody>
          <a:bodyPr/>
          <a:lstStyle/>
          <a:p>
            <a:pPr algn="ctr" rtl="1"/>
            <a:r>
              <a:rPr lang="he-IL" dirty="0"/>
              <a:t>מבנה התחנה</a:t>
            </a:r>
            <a:endParaRPr lang="en-US" dirty="0"/>
          </a:p>
        </p:txBody>
      </p:sp>
      <p:sp>
        <p:nvSpPr>
          <p:cNvPr id="3" name="Content Placeholder 2">
            <a:extLst>
              <a:ext uri="{FF2B5EF4-FFF2-40B4-BE49-F238E27FC236}">
                <a16:creationId xmlns:a16="http://schemas.microsoft.com/office/drawing/2014/main" id="{1E91AE7A-55D2-3160-A50F-A40121DE52CA}"/>
              </a:ext>
            </a:extLst>
          </p:cNvPr>
          <p:cNvSpPr>
            <a:spLocks noGrp="1"/>
          </p:cNvSpPr>
          <p:nvPr>
            <p:ph idx="1"/>
          </p:nvPr>
        </p:nvSpPr>
        <p:spPr>
          <a:xfrm>
            <a:off x="2814768" y="1115568"/>
            <a:ext cx="8474202" cy="3218688"/>
          </a:xfrm>
        </p:spPr>
        <p:txBody>
          <a:bodyPr/>
          <a:lstStyle/>
          <a:p>
            <a:pPr algn="r" rtl="1"/>
            <a:r>
              <a:rPr lang="he-IL" dirty="0"/>
              <a:t>בעצם פה הגדרנו את המאפיינים של התחנה עצמה (כמה קווים, קווים, פעילים, הכנסה כוללת של התחנה)</a:t>
            </a:r>
          </a:p>
        </p:txBody>
      </p:sp>
      <p:sp>
        <p:nvSpPr>
          <p:cNvPr id="4" name="Slide Number Placeholder 3">
            <a:extLst>
              <a:ext uri="{FF2B5EF4-FFF2-40B4-BE49-F238E27FC236}">
                <a16:creationId xmlns:a16="http://schemas.microsoft.com/office/drawing/2014/main" id="{440EB0A1-3F01-C3CD-4DB4-1C4E0C96816A}"/>
              </a:ext>
            </a:extLst>
          </p:cNvPr>
          <p:cNvSpPr>
            <a:spLocks noGrp="1"/>
          </p:cNvSpPr>
          <p:nvPr>
            <p:ph type="sldNum" sz="quarter" idx="12"/>
          </p:nvPr>
        </p:nvSpPr>
        <p:spPr/>
        <p:txBody>
          <a:bodyPr/>
          <a:lstStyle/>
          <a:p>
            <a:fld id="{CBD12358-51D2-46B3-9BDE-DF29528B9454}" type="slidenum">
              <a:rPr lang="en-US" smtClean="0"/>
              <a:t>5</a:t>
            </a:fld>
            <a:endParaRPr lang="en-US" dirty="0"/>
          </a:p>
        </p:txBody>
      </p:sp>
      <p:pic>
        <p:nvPicPr>
          <p:cNvPr id="6" name="Picture 5">
            <a:extLst>
              <a:ext uri="{FF2B5EF4-FFF2-40B4-BE49-F238E27FC236}">
                <a16:creationId xmlns:a16="http://schemas.microsoft.com/office/drawing/2014/main" id="{F9FE31BD-0670-2D34-D9A2-072CF8E4AA1F}"/>
              </a:ext>
            </a:extLst>
          </p:cNvPr>
          <p:cNvPicPr>
            <a:picLocks noChangeAspect="1"/>
          </p:cNvPicPr>
          <p:nvPr/>
        </p:nvPicPr>
        <p:blipFill>
          <a:blip r:embed="rId2"/>
          <a:stretch>
            <a:fillRect/>
          </a:stretch>
        </p:blipFill>
        <p:spPr>
          <a:xfrm>
            <a:off x="4456596" y="3591275"/>
            <a:ext cx="3278807" cy="1485961"/>
          </a:xfrm>
          <a:prstGeom prst="rect">
            <a:avLst/>
          </a:prstGeom>
        </p:spPr>
      </p:pic>
    </p:spTree>
    <p:extLst>
      <p:ext uri="{BB962C8B-B14F-4D97-AF65-F5344CB8AC3E}">
        <p14:creationId xmlns:p14="http://schemas.microsoft.com/office/powerpoint/2010/main" val="262209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2730-9539-FFDA-7929-CF53475E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06849-BD8B-DB61-5C48-52AFD6C12101}"/>
              </a:ext>
            </a:extLst>
          </p:cNvPr>
          <p:cNvSpPr>
            <a:spLocks noGrp="1"/>
          </p:cNvSpPr>
          <p:nvPr>
            <p:ph type="ctrTitle"/>
          </p:nvPr>
        </p:nvSpPr>
        <p:spPr>
          <a:xfrm>
            <a:off x="4654295" y="-137160"/>
            <a:ext cx="7004304" cy="3566160"/>
          </a:xfrm>
          <a:noFill/>
        </p:spPr>
        <p:txBody>
          <a:bodyPr>
            <a:noAutofit/>
          </a:bodyPr>
          <a:lstStyle/>
          <a:p>
            <a:r>
              <a:rPr lang="he-IL" dirty="0"/>
              <a:t>ארכיטקטורה ופונקציות עיקריות</a:t>
            </a:r>
            <a:endParaRPr lang="en-US" dirty="0"/>
          </a:p>
        </p:txBody>
      </p:sp>
      <p:sp>
        <p:nvSpPr>
          <p:cNvPr id="3" name="Subtitle 2">
            <a:extLst>
              <a:ext uri="{FF2B5EF4-FFF2-40B4-BE49-F238E27FC236}">
                <a16:creationId xmlns:a16="http://schemas.microsoft.com/office/drawing/2014/main" id="{CF19C0B6-6950-8E6F-4B1B-487EA234B65A}"/>
              </a:ext>
            </a:extLst>
          </p:cNvPr>
          <p:cNvSpPr>
            <a:spLocks noGrp="1"/>
          </p:cNvSpPr>
          <p:nvPr>
            <p:ph type="subTitle" idx="1"/>
          </p:nvPr>
        </p:nvSpPr>
        <p:spPr>
          <a:xfrm>
            <a:off x="4654295" y="3560851"/>
            <a:ext cx="7004303" cy="1161288"/>
          </a:xfrm>
          <a:noFill/>
        </p:spPr>
        <p:txBody>
          <a:bodyPr>
            <a:noAutofit/>
          </a:bodyPr>
          <a:lstStyle/>
          <a:p>
            <a:pPr rtl="1">
              <a:lnSpc>
                <a:spcPct val="100000"/>
              </a:lnSpc>
            </a:pPr>
            <a:r>
              <a:rPr lang="he-IL" sz="2000" dirty="0"/>
              <a:t>אתחול דינמי</a:t>
            </a:r>
          </a:p>
          <a:p>
            <a:pPr rtl="1">
              <a:lnSpc>
                <a:spcPct val="100000"/>
              </a:lnSpc>
            </a:pPr>
            <a:r>
              <a:rPr lang="he-IL" sz="2000" dirty="0"/>
              <a:t>רישום ובדיקת זמינות </a:t>
            </a:r>
          </a:p>
          <a:p>
            <a:pPr rtl="1">
              <a:lnSpc>
                <a:spcPct val="100000"/>
              </a:lnSpc>
            </a:pPr>
            <a:r>
              <a:rPr lang="he-IL" sz="2000" dirty="0"/>
              <a:t>תשלום </a:t>
            </a:r>
            <a:r>
              <a:rPr lang="he-IL" sz="2000" dirty="0" err="1"/>
              <a:t>וסינכרון</a:t>
            </a:r>
            <a:r>
              <a:rPr lang="he-IL" sz="2000" dirty="0"/>
              <a:t> </a:t>
            </a:r>
          </a:p>
          <a:p>
            <a:pPr rtl="1">
              <a:lnSpc>
                <a:spcPct val="100000"/>
              </a:lnSpc>
            </a:pPr>
            <a:r>
              <a:rPr lang="he-IL" sz="2000" dirty="0"/>
              <a:t>מעקב זמן אמת</a:t>
            </a:r>
          </a:p>
          <a:p>
            <a:pPr rtl="1">
              <a:lnSpc>
                <a:spcPct val="100000"/>
              </a:lnSpc>
            </a:pPr>
            <a:r>
              <a:rPr lang="he-IL" sz="2000" dirty="0"/>
              <a:t>דוח ניהול</a:t>
            </a:r>
            <a:endParaRPr lang="en-US" sz="2000" dirty="0"/>
          </a:p>
        </p:txBody>
      </p:sp>
    </p:spTree>
    <p:extLst>
      <p:ext uri="{BB962C8B-B14F-4D97-AF65-F5344CB8AC3E}">
        <p14:creationId xmlns:p14="http://schemas.microsoft.com/office/powerpoint/2010/main" val="3149755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2A31430F-2387-A49A-EADB-781BB18DE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E5D78-D4E6-3E84-031F-3A58DB8D4541}"/>
              </a:ext>
            </a:extLst>
          </p:cNvPr>
          <p:cNvSpPr>
            <a:spLocks noGrp="1"/>
          </p:cNvSpPr>
          <p:nvPr>
            <p:ph type="title"/>
          </p:nvPr>
        </p:nvSpPr>
        <p:spPr>
          <a:xfrm>
            <a:off x="1078992" y="365760"/>
            <a:ext cx="10277856" cy="1655064"/>
          </a:xfrm>
          <a:noFill/>
        </p:spPr>
        <p:txBody>
          <a:bodyPr anchor="b">
            <a:noAutofit/>
          </a:bodyPr>
          <a:lstStyle/>
          <a:p>
            <a:pPr algn="r" rtl="1"/>
            <a:r>
              <a:rPr lang="he-IL" dirty="0"/>
              <a:t>אתחול דינמי </a:t>
            </a:r>
            <a:r>
              <a:rPr lang="en-US" dirty="0" err="1"/>
              <a:t>initstation</a:t>
            </a:r>
            <a:r>
              <a:rPr lang="en-US" dirty="0"/>
              <a:t>)</a:t>
            </a:r>
            <a:r>
              <a:rPr lang="he-IL" dirty="0"/>
              <a:t>)</a:t>
            </a:r>
            <a:endParaRPr lang="en-US" dirty="0"/>
          </a:p>
        </p:txBody>
      </p:sp>
      <p:sp>
        <p:nvSpPr>
          <p:cNvPr id="10" name="Slide Number Placeholder 9">
            <a:extLst>
              <a:ext uri="{FF2B5EF4-FFF2-40B4-BE49-F238E27FC236}">
                <a16:creationId xmlns:a16="http://schemas.microsoft.com/office/drawing/2014/main" id="{D6BBC8B2-5548-52A3-C114-6353A49DC3DE}"/>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7</a:t>
            </a:fld>
            <a:endParaRPr lang="en-US" dirty="0"/>
          </a:p>
        </p:txBody>
      </p:sp>
      <p:sp>
        <p:nvSpPr>
          <p:cNvPr id="5" name="Rectangle 2">
            <a:extLst>
              <a:ext uri="{FF2B5EF4-FFF2-40B4-BE49-F238E27FC236}">
                <a16:creationId xmlns:a16="http://schemas.microsoft.com/office/drawing/2014/main" id="{FFE560D3-ED17-31D4-877A-D3F347F5B1BA}"/>
              </a:ext>
            </a:extLst>
          </p:cNvPr>
          <p:cNvSpPr>
            <a:spLocks noGrp="1" noChangeArrowheads="1"/>
          </p:cNvSpPr>
          <p:nvPr>
            <p:ph idx="1"/>
          </p:nvPr>
        </p:nvSpPr>
        <p:spPr bwMode="auto">
          <a:xfrm>
            <a:off x="2572377" y="2174507"/>
            <a:ext cx="8784471" cy="88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1" fontAlgn="base">
              <a:lnSpc>
                <a:spcPct val="150000"/>
              </a:lnSpc>
              <a:spcBef>
                <a:spcPct val="0"/>
              </a:spcBef>
              <a:spcAft>
                <a:spcPct val="0"/>
              </a:spcAft>
            </a:pPr>
            <a:r>
              <a:rPr lang="he-IL" sz="1800" dirty="0"/>
              <a:t>הגדרת המערכת בתחילת היום – קליטת מספר הקווים הפעילים, תעריפים, קיבולת מוניות ומשך נסיעה.</a:t>
            </a:r>
            <a:endParaRPr lang="en-US" altLang="en-US" sz="1800" b="1" dirty="0">
              <a:latin typeface="+mj-lt"/>
              <a:ea typeface="+mj-ea"/>
              <a:cs typeface="+mj-cs"/>
            </a:endParaRPr>
          </a:p>
        </p:txBody>
      </p:sp>
      <p:pic>
        <p:nvPicPr>
          <p:cNvPr id="9" name="Picture 8">
            <a:extLst>
              <a:ext uri="{FF2B5EF4-FFF2-40B4-BE49-F238E27FC236}">
                <a16:creationId xmlns:a16="http://schemas.microsoft.com/office/drawing/2014/main" id="{7704FFE1-6051-FF38-A0E2-792C7A1A8DBC}"/>
              </a:ext>
            </a:extLst>
          </p:cNvPr>
          <p:cNvPicPr>
            <a:picLocks noChangeAspect="1"/>
          </p:cNvPicPr>
          <p:nvPr/>
        </p:nvPicPr>
        <p:blipFill>
          <a:blip r:embed="rId3"/>
          <a:stretch>
            <a:fillRect/>
          </a:stretch>
        </p:blipFill>
        <p:spPr>
          <a:xfrm>
            <a:off x="1940405" y="3659737"/>
            <a:ext cx="4155595" cy="2587871"/>
          </a:xfrm>
          <a:prstGeom prst="rect">
            <a:avLst/>
          </a:prstGeom>
        </p:spPr>
      </p:pic>
      <p:pic>
        <p:nvPicPr>
          <p:cNvPr id="7" name="Picture 6">
            <a:extLst>
              <a:ext uri="{FF2B5EF4-FFF2-40B4-BE49-F238E27FC236}">
                <a16:creationId xmlns:a16="http://schemas.microsoft.com/office/drawing/2014/main" id="{31577331-4E1A-9981-0C8C-EF9871F5DF31}"/>
              </a:ext>
            </a:extLst>
          </p:cNvPr>
          <p:cNvPicPr>
            <a:picLocks noChangeAspect="1"/>
          </p:cNvPicPr>
          <p:nvPr/>
        </p:nvPicPr>
        <p:blipFill>
          <a:blip r:embed="rId4"/>
          <a:stretch>
            <a:fillRect/>
          </a:stretch>
        </p:blipFill>
        <p:spPr>
          <a:xfrm>
            <a:off x="6217920" y="3305938"/>
            <a:ext cx="4753638" cy="1971950"/>
          </a:xfrm>
          <a:prstGeom prst="rect">
            <a:avLst/>
          </a:prstGeom>
        </p:spPr>
      </p:pic>
    </p:spTree>
    <p:extLst>
      <p:ext uri="{BB962C8B-B14F-4D97-AF65-F5344CB8AC3E}">
        <p14:creationId xmlns:p14="http://schemas.microsoft.com/office/powerpoint/2010/main" val="8357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D6C5EA2C-7C9E-C79A-8033-EA17080777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26CA5-DC21-3B04-02D4-4C33AB13C97E}"/>
              </a:ext>
            </a:extLst>
          </p:cNvPr>
          <p:cNvSpPr>
            <a:spLocks noGrp="1"/>
          </p:cNvSpPr>
          <p:nvPr>
            <p:ph type="title"/>
          </p:nvPr>
        </p:nvSpPr>
        <p:spPr>
          <a:xfrm>
            <a:off x="1078992" y="365760"/>
            <a:ext cx="10277856" cy="1655064"/>
          </a:xfrm>
          <a:noFill/>
        </p:spPr>
        <p:txBody>
          <a:bodyPr anchor="b">
            <a:noAutofit/>
          </a:bodyPr>
          <a:lstStyle/>
          <a:p>
            <a:pPr algn="r" rtl="1"/>
            <a:r>
              <a:rPr lang="he-IL" dirty="0"/>
              <a:t>רישום חכם (</a:t>
            </a:r>
            <a:r>
              <a:rPr lang="en-US" dirty="0" err="1"/>
              <a:t>registerpassenger</a:t>
            </a:r>
            <a:r>
              <a:rPr lang="he-IL" dirty="0"/>
              <a:t>)</a:t>
            </a:r>
            <a:endParaRPr lang="en-US" dirty="0"/>
          </a:p>
        </p:txBody>
      </p:sp>
      <p:sp>
        <p:nvSpPr>
          <p:cNvPr id="10" name="Slide Number Placeholder 9">
            <a:extLst>
              <a:ext uri="{FF2B5EF4-FFF2-40B4-BE49-F238E27FC236}">
                <a16:creationId xmlns:a16="http://schemas.microsoft.com/office/drawing/2014/main" id="{EFBEC2CF-10F4-545F-D564-6D81D144DD13}"/>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8</a:t>
            </a:fld>
            <a:endParaRPr lang="en-US" dirty="0"/>
          </a:p>
        </p:txBody>
      </p:sp>
      <p:sp>
        <p:nvSpPr>
          <p:cNvPr id="5" name="Rectangle 2">
            <a:extLst>
              <a:ext uri="{FF2B5EF4-FFF2-40B4-BE49-F238E27FC236}">
                <a16:creationId xmlns:a16="http://schemas.microsoft.com/office/drawing/2014/main" id="{7EE2AD5B-250E-EB62-11FD-E4EB770AD397}"/>
              </a:ext>
            </a:extLst>
          </p:cNvPr>
          <p:cNvSpPr>
            <a:spLocks noGrp="1" noChangeArrowheads="1"/>
          </p:cNvSpPr>
          <p:nvPr>
            <p:ph idx="1"/>
          </p:nvPr>
        </p:nvSpPr>
        <p:spPr bwMode="auto">
          <a:xfrm>
            <a:off x="2572377" y="2174507"/>
            <a:ext cx="8784471" cy="88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1" fontAlgn="base">
              <a:lnSpc>
                <a:spcPct val="150000"/>
              </a:lnSpc>
              <a:spcBef>
                <a:spcPct val="0"/>
              </a:spcBef>
              <a:spcAft>
                <a:spcPct val="0"/>
              </a:spcAft>
            </a:pPr>
            <a:r>
              <a:rPr lang="he-IL" sz="1800" dirty="0"/>
              <a:t>קליטת בקשות נסיעה מהמשתמש, המרת שעות מפורמט </a:t>
            </a:r>
            <a:r>
              <a:rPr lang="en-US" sz="1800" dirty="0"/>
              <a:t>HH:MM</a:t>
            </a:r>
            <a:r>
              <a:rPr lang="he-IL" sz="1800" dirty="0"/>
              <a:t> ובדיקת זמינות מקומות (</a:t>
            </a:r>
            <a:r>
              <a:rPr lang="en-US" sz="1800" dirty="0" err="1"/>
              <a:t>check_availability</a:t>
            </a:r>
            <a:r>
              <a:rPr lang="he-IL" sz="1800" dirty="0"/>
              <a:t>) של הקו בהתאם לשעה שהמשתמש ביקש</a:t>
            </a:r>
            <a:r>
              <a:rPr lang="en-US" sz="1800" dirty="0"/>
              <a:t>.</a:t>
            </a:r>
            <a:endParaRPr lang="en-US" altLang="en-US" sz="1800" b="1" dirty="0">
              <a:latin typeface="+mj-lt"/>
              <a:ea typeface="+mj-ea"/>
              <a:cs typeface="+mj-cs"/>
            </a:endParaRPr>
          </a:p>
        </p:txBody>
      </p:sp>
      <p:pic>
        <p:nvPicPr>
          <p:cNvPr id="4" name="Picture 3">
            <a:extLst>
              <a:ext uri="{FF2B5EF4-FFF2-40B4-BE49-F238E27FC236}">
                <a16:creationId xmlns:a16="http://schemas.microsoft.com/office/drawing/2014/main" id="{9084E6D1-4825-D960-6365-9A0590EAE4D0}"/>
              </a:ext>
            </a:extLst>
          </p:cNvPr>
          <p:cNvPicPr>
            <a:picLocks noChangeAspect="1"/>
          </p:cNvPicPr>
          <p:nvPr/>
        </p:nvPicPr>
        <p:blipFill>
          <a:blip r:embed="rId2"/>
          <a:stretch>
            <a:fillRect/>
          </a:stretch>
        </p:blipFill>
        <p:spPr>
          <a:xfrm>
            <a:off x="6681497" y="3329753"/>
            <a:ext cx="4163006" cy="1924319"/>
          </a:xfrm>
          <a:prstGeom prst="rect">
            <a:avLst/>
          </a:prstGeom>
        </p:spPr>
      </p:pic>
      <p:pic>
        <p:nvPicPr>
          <p:cNvPr id="7" name="Picture 6">
            <a:extLst>
              <a:ext uri="{FF2B5EF4-FFF2-40B4-BE49-F238E27FC236}">
                <a16:creationId xmlns:a16="http://schemas.microsoft.com/office/drawing/2014/main" id="{49343824-5218-19CE-CDC4-FD1D808DDA12}"/>
              </a:ext>
            </a:extLst>
          </p:cNvPr>
          <p:cNvPicPr>
            <a:picLocks noChangeAspect="1"/>
          </p:cNvPicPr>
          <p:nvPr/>
        </p:nvPicPr>
        <p:blipFill>
          <a:blip r:embed="rId3"/>
          <a:stretch>
            <a:fillRect/>
          </a:stretch>
        </p:blipFill>
        <p:spPr>
          <a:xfrm>
            <a:off x="7127158" y="5254072"/>
            <a:ext cx="4229690" cy="495369"/>
          </a:xfrm>
          <a:prstGeom prst="rect">
            <a:avLst/>
          </a:prstGeom>
        </p:spPr>
      </p:pic>
      <p:pic>
        <p:nvPicPr>
          <p:cNvPr id="9" name="Picture 8">
            <a:extLst>
              <a:ext uri="{FF2B5EF4-FFF2-40B4-BE49-F238E27FC236}">
                <a16:creationId xmlns:a16="http://schemas.microsoft.com/office/drawing/2014/main" id="{8C6E0766-ED92-3DA5-2C77-E95BAB39AF41}"/>
              </a:ext>
            </a:extLst>
          </p:cNvPr>
          <p:cNvPicPr>
            <a:picLocks noChangeAspect="1"/>
          </p:cNvPicPr>
          <p:nvPr/>
        </p:nvPicPr>
        <p:blipFill>
          <a:blip r:embed="rId4"/>
          <a:stretch>
            <a:fillRect/>
          </a:stretch>
        </p:blipFill>
        <p:spPr>
          <a:xfrm>
            <a:off x="854597" y="3529806"/>
            <a:ext cx="5363323" cy="2219635"/>
          </a:xfrm>
          <a:prstGeom prst="rect">
            <a:avLst/>
          </a:prstGeom>
        </p:spPr>
      </p:pic>
    </p:spTree>
    <p:extLst>
      <p:ext uri="{BB962C8B-B14F-4D97-AF65-F5344CB8AC3E}">
        <p14:creationId xmlns:p14="http://schemas.microsoft.com/office/powerpoint/2010/main" val="2105463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163C979E-1A22-F0EB-7E5D-52381E8C7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DD348-21A4-4A4E-98B7-E683D3EF6032}"/>
              </a:ext>
            </a:extLst>
          </p:cNvPr>
          <p:cNvSpPr>
            <a:spLocks noGrp="1"/>
          </p:cNvSpPr>
          <p:nvPr>
            <p:ph type="title"/>
          </p:nvPr>
        </p:nvSpPr>
        <p:spPr>
          <a:xfrm>
            <a:off x="1078992" y="648534"/>
            <a:ext cx="10277856" cy="1655064"/>
          </a:xfrm>
          <a:noFill/>
        </p:spPr>
        <p:txBody>
          <a:bodyPr anchor="b">
            <a:noAutofit/>
          </a:bodyPr>
          <a:lstStyle/>
          <a:p>
            <a:pPr algn="r" rtl="1"/>
            <a:r>
              <a:rPr lang="he-IL" sz="4000" dirty="0"/>
              <a:t>תשלום </a:t>
            </a:r>
            <a:r>
              <a:rPr lang="he-IL" sz="4000" dirty="0" err="1"/>
              <a:t>וסינכרון</a:t>
            </a:r>
            <a:r>
              <a:rPr lang="he-IL" sz="4000" dirty="0"/>
              <a:t> (</a:t>
            </a:r>
            <a:r>
              <a:rPr lang="en-US" sz="4000" dirty="0" err="1"/>
              <a:t>processPayment</a:t>
            </a:r>
            <a:r>
              <a:rPr lang="en-US" sz="4000" dirty="0"/>
              <a:t> &amp; </a:t>
            </a:r>
            <a:r>
              <a:rPr lang="en-US" sz="4000" dirty="0" err="1"/>
              <a:t>updateStationData</a:t>
            </a:r>
            <a:r>
              <a:rPr lang="he-IL" sz="4000" dirty="0"/>
              <a:t>)</a:t>
            </a:r>
            <a:endParaRPr lang="en-US" sz="4000" dirty="0"/>
          </a:p>
        </p:txBody>
      </p:sp>
      <p:sp>
        <p:nvSpPr>
          <p:cNvPr id="10" name="Slide Number Placeholder 9">
            <a:extLst>
              <a:ext uri="{FF2B5EF4-FFF2-40B4-BE49-F238E27FC236}">
                <a16:creationId xmlns:a16="http://schemas.microsoft.com/office/drawing/2014/main" id="{3CFE2914-98CE-10AE-0E04-E08B240995EA}"/>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9</a:t>
            </a:fld>
            <a:endParaRPr lang="en-US" dirty="0"/>
          </a:p>
        </p:txBody>
      </p:sp>
      <p:sp>
        <p:nvSpPr>
          <p:cNvPr id="5" name="Rectangle 2">
            <a:extLst>
              <a:ext uri="{FF2B5EF4-FFF2-40B4-BE49-F238E27FC236}">
                <a16:creationId xmlns:a16="http://schemas.microsoft.com/office/drawing/2014/main" id="{5D98E069-157F-EB6A-A576-CDE515EF8AC3}"/>
              </a:ext>
            </a:extLst>
          </p:cNvPr>
          <p:cNvSpPr>
            <a:spLocks noGrp="1" noChangeArrowheads="1"/>
          </p:cNvSpPr>
          <p:nvPr>
            <p:ph idx="1"/>
          </p:nvPr>
        </p:nvSpPr>
        <p:spPr bwMode="auto">
          <a:xfrm>
            <a:off x="2572377" y="2431682"/>
            <a:ext cx="8784471" cy="880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1" fontAlgn="base">
              <a:lnSpc>
                <a:spcPct val="150000"/>
              </a:lnSpc>
              <a:spcBef>
                <a:spcPct val="0"/>
              </a:spcBef>
              <a:spcAft>
                <a:spcPct val="0"/>
              </a:spcAft>
            </a:pPr>
            <a:r>
              <a:rPr lang="he-IL" sz="1800" dirty="0"/>
              <a:t>גביית תשלום, הדפסת כרטיס ועדכון הנתונים במערכת. </a:t>
            </a:r>
          </a:p>
          <a:p>
            <a:pPr lvl="0" algn="just" rtl="1" fontAlgn="base">
              <a:lnSpc>
                <a:spcPct val="150000"/>
              </a:lnSpc>
              <a:spcBef>
                <a:spcPct val="0"/>
              </a:spcBef>
              <a:spcAft>
                <a:spcPct val="0"/>
              </a:spcAft>
            </a:pPr>
            <a:r>
              <a:rPr lang="he-IL" altLang="en-US" sz="1800" b="1" dirty="0">
                <a:latin typeface="+mj-lt"/>
                <a:ea typeface="+mj-ea"/>
                <a:cs typeface="+mj-cs"/>
              </a:rPr>
              <a:t>אני מציע בפונקציה של הרישום בהינתן ויש זמינות ביצוע קניית כרטיס</a:t>
            </a:r>
            <a:endParaRPr lang="en-US" altLang="en-US" sz="1800" b="1" dirty="0">
              <a:latin typeface="+mj-lt"/>
              <a:ea typeface="+mj-ea"/>
              <a:cs typeface="+mj-cs"/>
            </a:endParaRPr>
          </a:p>
        </p:txBody>
      </p:sp>
      <p:pic>
        <p:nvPicPr>
          <p:cNvPr id="4" name="Picture 3">
            <a:extLst>
              <a:ext uri="{FF2B5EF4-FFF2-40B4-BE49-F238E27FC236}">
                <a16:creationId xmlns:a16="http://schemas.microsoft.com/office/drawing/2014/main" id="{EA6DDC2B-BA77-83A5-A3CA-E9A0F3830650}"/>
              </a:ext>
            </a:extLst>
          </p:cNvPr>
          <p:cNvPicPr>
            <a:picLocks noChangeAspect="1"/>
          </p:cNvPicPr>
          <p:nvPr/>
        </p:nvPicPr>
        <p:blipFill>
          <a:blip r:embed="rId2"/>
          <a:stretch>
            <a:fillRect/>
          </a:stretch>
        </p:blipFill>
        <p:spPr>
          <a:xfrm>
            <a:off x="6586212" y="3543979"/>
            <a:ext cx="4658375" cy="2010056"/>
          </a:xfrm>
          <a:prstGeom prst="rect">
            <a:avLst/>
          </a:prstGeom>
        </p:spPr>
      </p:pic>
      <p:pic>
        <p:nvPicPr>
          <p:cNvPr id="7" name="Picture 6">
            <a:extLst>
              <a:ext uri="{FF2B5EF4-FFF2-40B4-BE49-F238E27FC236}">
                <a16:creationId xmlns:a16="http://schemas.microsoft.com/office/drawing/2014/main" id="{B1CC105C-F80D-F0AB-8BB0-8CD671586E30}"/>
              </a:ext>
            </a:extLst>
          </p:cNvPr>
          <p:cNvPicPr>
            <a:picLocks noChangeAspect="1"/>
          </p:cNvPicPr>
          <p:nvPr/>
        </p:nvPicPr>
        <p:blipFill>
          <a:blip r:embed="rId3"/>
          <a:stretch>
            <a:fillRect/>
          </a:stretch>
        </p:blipFill>
        <p:spPr>
          <a:xfrm>
            <a:off x="1355106" y="3537629"/>
            <a:ext cx="4760594" cy="2671837"/>
          </a:xfrm>
          <a:prstGeom prst="rect">
            <a:avLst/>
          </a:prstGeom>
        </p:spPr>
      </p:pic>
      <p:pic>
        <p:nvPicPr>
          <p:cNvPr id="9" name="Picture 8">
            <a:extLst>
              <a:ext uri="{FF2B5EF4-FFF2-40B4-BE49-F238E27FC236}">
                <a16:creationId xmlns:a16="http://schemas.microsoft.com/office/drawing/2014/main" id="{9ABDCB54-3081-257A-F831-DEF12F4C0963}"/>
              </a:ext>
            </a:extLst>
          </p:cNvPr>
          <p:cNvPicPr>
            <a:picLocks noChangeAspect="1"/>
          </p:cNvPicPr>
          <p:nvPr/>
        </p:nvPicPr>
        <p:blipFill>
          <a:blip r:embed="rId4"/>
          <a:stretch>
            <a:fillRect/>
          </a:stretch>
        </p:blipFill>
        <p:spPr>
          <a:xfrm>
            <a:off x="835152" y="2055027"/>
            <a:ext cx="2252079" cy="1265344"/>
          </a:xfrm>
          <a:prstGeom prst="rect">
            <a:avLst/>
          </a:prstGeom>
        </p:spPr>
      </p:pic>
    </p:spTree>
    <p:extLst>
      <p:ext uri="{BB962C8B-B14F-4D97-AF65-F5344CB8AC3E}">
        <p14:creationId xmlns:p14="http://schemas.microsoft.com/office/powerpoint/2010/main" val="1738026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BD410D70-E934-961F-5329-52BCCDEAC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B459A-B7D9-CB04-581C-E02F1CE77F25}"/>
              </a:ext>
            </a:extLst>
          </p:cNvPr>
          <p:cNvSpPr>
            <a:spLocks noGrp="1"/>
          </p:cNvSpPr>
          <p:nvPr>
            <p:ph type="title"/>
          </p:nvPr>
        </p:nvSpPr>
        <p:spPr>
          <a:xfrm>
            <a:off x="1078992" y="365760"/>
            <a:ext cx="10277856" cy="1655064"/>
          </a:xfrm>
          <a:noFill/>
        </p:spPr>
        <p:txBody>
          <a:bodyPr anchor="b">
            <a:noAutofit/>
          </a:bodyPr>
          <a:lstStyle/>
          <a:p>
            <a:pPr algn="r" rtl="1"/>
            <a:r>
              <a:rPr lang="he-IL" dirty="0"/>
              <a:t>מעקב זמן אמת (</a:t>
            </a:r>
            <a:r>
              <a:rPr lang="en-US" dirty="0" err="1"/>
              <a:t>showSystemStatus</a:t>
            </a:r>
            <a:r>
              <a:rPr lang="he-IL" dirty="0"/>
              <a:t>)</a:t>
            </a:r>
            <a:endParaRPr lang="en-US" dirty="0"/>
          </a:p>
        </p:txBody>
      </p:sp>
      <p:sp>
        <p:nvSpPr>
          <p:cNvPr id="10" name="Slide Number Placeholder 9">
            <a:extLst>
              <a:ext uri="{FF2B5EF4-FFF2-40B4-BE49-F238E27FC236}">
                <a16:creationId xmlns:a16="http://schemas.microsoft.com/office/drawing/2014/main" id="{8DC3FA8F-38FF-6AD9-4380-9B16543DDBC2}"/>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10</a:t>
            </a:fld>
            <a:endParaRPr lang="en-US" dirty="0"/>
          </a:p>
        </p:txBody>
      </p:sp>
      <p:sp>
        <p:nvSpPr>
          <p:cNvPr id="5" name="Rectangle 2">
            <a:extLst>
              <a:ext uri="{FF2B5EF4-FFF2-40B4-BE49-F238E27FC236}">
                <a16:creationId xmlns:a16="http://schemas.microsoft.com/office/drawing/2014/main" id="{A2778EF0-64C5-4DCD-516F-5333A37774EA}"/>
              </a:ext>
            </a:extLst>
          </p:cNvPr>
          <p:cNvSpPr>
            <a:spLocks noGrp="1" noChangeArrowheads="1"/>
          </p:cNvSpPr>
          <p:nvPr>
            <p:ph idx="1"/>
          </p:nvPr>
        </p:nvSpPr>
        <p:spPr bwMode="auto">
          <a:xfrm>
            <a:off x="2572377" y="2372424"/>
            <a:ext cx="8784471" cy="465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1" fontAlgn="base">
              <a:lnSpc>
                <a:spcPct val="150000"/>
              </a:lnSpc>
              <a:spcBef>
                <a:spcPct val="0"/>
              </a:spcBef>
              <a:spcAft>
                <a:spcPct val="0"/>
              </a:spcAft>
            </a:pPr>
            <a:r>
              <a:rPr lang="he-IL" sz="1800" dirty="0"/>
              <a:t>"רדאר" התחנה – מחשב בכל רגע נתון אילו מוניות בנסיעה (כולל</a:t>
            </a:r>
            <a:r>
              <a:rPr lang="en-US" sz="1800" dirty="0"/>
              <a:t> </a:t>
            </a:r>
            <a:r>
              <a:rPr lang="he-IL" sz="1800" dirty="0"/>
              <a:t>ואילו ממתינות בתחנה</a:t>
            </a:r>
            <a:r>
              <a:rPr lang="en-US" sz="1800" dirty="0"/>
              <a:t>(</a:t>
            </a:r>
            <a:r>
              <a:rPr lang="he-IL" sz="1800" dirty="0"/>
              <a:t>.</a:t>
            </a:r>
            <a:endParaRPr lang="en-US" altLang="en-US" sz="1800" b="1" dirty="0">
              <a:latin typeface="+mj-lt"/>
              <a:ea typeface="+mj-ea"/>
              <a:cs typeface="+mj-cs"/>
            </a:endParaRPr>
          </a:p>
        </p:txBody>
      </p:sp>
      <p:pic>
        <p:nvPicPr>
          <p:cNvPr id="7" name="Picture 6">
            <a:extLst>
              <a:ext uri="{FF2B5EF4-FFF2-40B4-BE49-F238E27FC236}">
                <a16:creationId xmlns:a16="http://schemas.microsoft.com/office/drawing/2014/main" id="{28286375-7FDA-80A7-3E70-69D9C34D5E57}"/>
              </a:ext>
            </a:extLst>
          </p:cNvPr>
          <p:cNvPicPr>
            <a:picLocks noChangeAspect="1"/>
          </p:cNvPicPr>
          <p:nvPr/>
        </p:nvPicPr>
        <p:blipFill>
          <a:blip r:embed="rId2"/>
          <a:stretch>
            <a:fillRect/>
          </a:stretch>
        </p:blipFill>
        <p:spPr>
          <a:xfrm>
            <a:off x="6217920" y="3086832"/>
            <a:ext cx="4753638" cy="2410161"/>
          </a:xfrm>
          <a:prstGeom prst="rect">
            <a:avLst/>
          </a:prstGeom>
        </p:spPr>
      </p:pic>
      <p:pic>
        <p:nvPicPr>
          <p:cNvPr id="9" name="Picture 8">
            <a:extLst>
              <a:ext uri="{FF2B5EF4-FFF2-40B4-BE49-F238E27FC236}">
                <a16:creationId xmlns:a16="http://schemas.microsoft.com/office/drawing/2014/main" id="{D938C63B-915A-8FA6-3D29-362C366EBB57}"/>
              </a:ext>
            </a:extLst>
          </p:cNvPr>
          <p:cNvPicPr>
            <a:picLocks noChangeAspect="1"/>
          </p:cNvPicPr>
          <p:nvPr/>
        </p:nvPicPr>
        <p:blipFill>
          <a:blip r:embed="rId3"/>
          <a:stretch>
            <a:fillRect/>
          </a:stretch>
        </p:blipFill>
        <p:spPr>
          <a:xfrm>
            <a:off x="756896" y="3429000"/>
            <a:ext cx="4887007" cy="2715004"/>
          </a:xfrm>
          <a:prstGeom prst="rect">
            <a:avLst/>
          </a:prstGeom>
        </p:spPr>
      </p:pic>
    </p:spTree>
    <p:extLst>
      <p:ext uri="{BB962C8B-B14F-4D97-AF65-F5344CB8AC3E}">
        <p14:creationId xmlns:p14="http://schemas.microsoft.com/office/powerpoint/2010/main" val="1302971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19200000" scaled="0"/>
        </a:gradFill>
        <a:effectLst/>
      </p:bgPr>
    </p:bg>
    <p:spTree>
      <p:nvGrpSpPr>
        <p:cNvPr id="1" name="">
          <a:extLst>
            <a:ext uri="{FF2B5EF4-FFF2-40B4-BE49-F238E27FC236}">
              <a16:creationId xmlns:a16="http://schemas.microsoft.com/office/drawing/2014/main" id="{0D36ACFC-4066-2DAA-9D38-41F25516E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93318-BD65-1853-AAD5-70D5D778A2A5}"/>
              </a:ext>
            </a:extLst>
          </p:cNvPr>
          <p:cNvSpPr>
            <a:spLocks noGrp="1"/>
          </p:cNvSpPr>
          <p:nvPr>
            <p:ph type="title"/>
          </p:nvPr>
        </p:nvSpPr>
        <p:spPr>
          <a:xfrm>
            <a:off x="1078992" y="365760"/>
            <a:ext cx="10277856" cy="1655064"/>
          </a:xfrm>
          <a:noFill/>
        </p:spPr>
        <p:txBody>
          <a:bodyPr anchor="b">
            <a:noAutofit/>
          </a:bodyPr>
          <a:lstStyle/>
          <a:p>
            <a:pPr algn="r" rtl="1">
              <a:lnSpc>
                <a:spcPct val="100000"/>
              </a:lnSpc>
            </a:pPr>
            <a:r>
              <a:rPr lang="he-IL" dirty="0"/>
              <a:t>דוח ניהול (</a:t>
            </a:r>
            <a:r>
              <a:rPr lang="en-US" dirty="0" err="1"/>
              <a:t>showReports</a:t>
            </a:r>
            <a:r>
              <a:rPr lang="he-IL" dirty="0"/>
              <a:t>)</a:t>
            </a:r>
            <a:endParaRPr lang="en-US" dirty="0"/>
          </a:p>
        </p:txBody>
      </p:sp>
      <p:sp>
        <p:nvSpPr>
          <p:cNvPr id="10" name="Slide Number Placeholder 9">
            <a:extLst>
              <a:ext uri="{FF2B5EF4-FFF2-40B4-BE49-F238E27FC236}">
                <a16:creationId xmlns:a16="http://schemas.microsoft.com/office/drawing/2014/main" id="{7FA4CE2A-7697-8E09-B4BE-3EC4A27486BD}"/>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11</a:t>
            </a:fld>
            <a:endParaRPr lang="en-US" dirty="0"/>
          </a:p>
        </p:txBody>
      </p:sp>
      <p:sp>
        <p:nvSpPr>
          <p:cNvPr id="5" name="Rectangle 2">
            <a:extLst>
              <a:ext uri="{FF2B5EF4-FFF2-40B4-BE49-F238E27FC236}">
                <a16:creationId xmlns:a16="http://schemas.microsoft.com/office/drawing/2014/main" id="{CE7035F1-F52B-9F59-FBB4-416DE40DC458}"/>
              </a:ext>
            </a:extLst>
          </p:cNvPr>
          <p:cNvSpPr>
            <a:spLocks noGrp="1" noChangeArrowheads="1"/>
          </p:cNvSpPr>
          <p:nvPr>
            <p:ph idx="1"/>
          </p:nvPr>
        </p:nvSpPr>
        <p:spPr bwMode="auto">
          <a:xfrm>
            <a:off x="2572377" y="2372424"/>
            <a:ext cx="8784471" cy="465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1" fontAlgn="base">
              <a:lnSpc>
                <a:spcPct val="150000"/>
              </a:lnSpc>
              <a:spcBef>
                <a:spcPct val="0"/>
              </a:spcBef>
              <a:spcAft>
                <a:spcPct val="0"/>
              </a:spcAft>
            </a:pPr>
            <a:r>
              <a:rPr lang="he-IL" altLang="en-US" sz="1800" dirty="0">
                <a:latin typeface="+mj-lt"/>
                <a:ea typeface="+mj-ea"/>
                <a:cs typeface="+mj-cs"/>
              </a:rPr>
              <a:t>נקבל דוח מפורט ברגע נתון על היום </a:t>
            </a:r>
            <a:endParaRPr lang="en-US" altLang="en-US" sz="1800" dirty="0">
              <a:latin typeface="+mj-lt"/>
              <a:ea typeface="+mj-ea"/>
              <a:cs typeface="+mj-cs"/>
            </a:endParaRPr>
          </a:p>
        </p:txBody>
      </p:sp>
      <p:pic>
        <p:nvPicPr>
          <p:cNvPr id="4" name="Picture 3">
            <a:extLst>
              <a:ext uri="{FF2B5EF4-FFF2-40B4-BE49-F238E27FC236}">
                <a16:creationId xmlns:a16="http://schemas.microsoft.com/office/drawing/2014/main" id="{A0E4704A-BC3A-C144-911E-0D9576822566}"/>
              </a:ext>
            </a:extLst>
          </p:cNvPr>
          <p:cNvPicPr>
            <a:picLocks noChangeAspect="1"/>
          </p:cNvPicPr>
          <p:nvPr/>
        </p:nvPicPr>
        <p:blipFill>
          <a:blip r:embed="rId2"/>
          <a:stretch>
            <a:fillRect/>
          </a:stretch>
        </p:blipFill>
        <p:spPr>
          <a:xfrm>
            <a:off x="1692914" y="2519236"/>
            <a:ext cx="4525006" cy="2162477"/>
          </a:xfrm>
          <a:prstGeom prst="rect">
            <a:avLst/>
          </a:prstGeom>
        </p:spPr>
      </p:pic>
      <p:pic>
        <p:nvPicPr>
          <p:cNvPr id="8" name="Picture 7">
            <a:extLst>
              <a:ext uri="{FF2B5EF4-FFF2-40B4-BE49-F238E27FC236}">
                <a16:creationId xmlns:a16="http://schemas.microsoft.com/office/drawing/2014/main" id="{392D712E-44D2-178F-DA8B-9AD8A9651FB8}"/>
              </a:ext>
            </a:extLst>
          </p:cNvPr>
          <p:cNvPicPr>
            <a:picLocks noChangeAspect="1"/>
          </p:cNvPicPr>
          <p:nvPr/>
        </p:nvPicPr>
        <p:blipFill>
          <a:blip r:embed="rId3"/>
          <a:stretch>
            <a:fillRect/>
          </a:stretch>
        </p:blipFill>
        <p:spPr>
          <a:xfrm>
            <a:off x="6096000" y="4020193"/>
            <a:ext cx="4801849" cy="2162477"/>
          </a:xfrm>
          <a:prstGeom prst="rect">
            <a:avLst/>
          </a:prstGeom>
        </p:spPr>
      </p:pic>
    </p:spTree>
    <p:extLst>
      <p:ext uri="{BB962C8B-B14F-4D97-AF65-F5344CB8AC3E}">
        <p14:creationId xmlns:p14="http://schemas.microsoft.com/office/powerpoint/2010/main" val="4099525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078992" y="365760"/>
            <a:ext cx="10506456" cy="1655064"/>
          </a:xfrm>
          <a:noFill/>
        </p:spPr>
        <p:txBody>
          <a:bodyPr>
            <a:noAutofit/>
          </a:bodyPr>
          <a:lstStyle/>
          <a:p>
            <a:pPr algn="ctr" rtl="1"/>
            <a:r>
              <a:rPr lang="he-IL" dirty="0"/>
              <a:t>אתגרים מרכזיים ופתרונות</a:t>
            </a:r>
            <a:endParaRPr lang="en-US" dirty="0"/>
          </a:p>
        </p:txBody>
      </p:sp>
      <p:graphicFrame>
        <p:nvGraphicFramePr>
          <p:cNvPr id="14" name="Content Placeholder 13" descr="A timeline of the product launch">
            <a:extLst>
              <a:ext uri="{FF2B5EF4-FFF2-40B4-BE49-F238E27FC236}">
                <a16:creationId xmlns:a16="http://schemas.microsoft.com/office/drawing/2014/main" id="{A7FD81E4-2CEB-1301-59FF-81509B86E571}"/>
              </a:ext>
            </a:extLst>
          </p:cNvPr>
          <p:cNvGraphicFramePr>
            <a:graphicFrameLocks noGrp="1"/>
          </p:cNvGraphicFramePr>
          <p:nvPr>
            <p:ph sz="half" idx="2"/>
            <p:extLst>
              <p:ext uri="{D42A27DB-BD31-4B8C-83A1-F6EECF244321}">
                <p14:modId xmlns:p14="http://schemas.microsoft.com/office/powerpoint/2010/main" val="3309974201"/>
              </p:ext>
            </p:extLst>
          </p:nvPr>
        </p:nvGraphicFramePr>
        <p:xfrm>
          <a:off x="2786062" y="2020824"/>
          <a:ext cx="6619875" cy="3913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Slide Number Placeholder 20">
            <a:extLst>
              <a:ext uri="{FF2B5EF4-FFF2-40B4-BE49-F238E27FC236}">
                <a16:creationId xmlns:a16="http://schemas.microsoft.com/office/drawing/2014/main" id="{E39E6080-E7F0-678F-65B9-B64B99BDF32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12</a:t>
            </a:fld>
            <a:endParaRPr lang="en-US" dirty="0"/>
          </a:p>
        </p:txBody>
      </p:sp>
    </p:spTree>
    <p:extLst>
      <p:ext uri="{BB962C8B-B14F-4D97-AF65-F5344CB8AC3E}">
        <p14:creationId xmlns:p14="http://schemas.microsoft.com/office/powerpoint/2010/main" val="2737241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078992" y="365760"/>
            <a:ext cx="10277856" cy="1655064"/>
          </a:xfrm>
          <a:noFill/>
        </p:spPr>
        <p:txBody>
          <a:bodyPr>
            <a:noAutofit/>
          </a:bodyPr>
          <a:lstStyle/>
          <a:p>
            <a:pPr algn="r" rtl="1"/>
            <a:r>
              <a:rPr lang="he-IL" dirty="0"/>
              <a:t>אתגר 1: לוגיקת זמנים ושעונים מעורבים</a:t>
            </a:r>
            <a:endParaRPr lang="en-US" dirty="0"/>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idx="1"/>
          </p:nvPr>
        </p:nvSpPr>
        <p:spPr>
          <a:xfrm>
            <a:off x="4913179" y="2522269"/>
            <a:ext cx="6327648" cy="3090672"/>
          </a:xfrm>
          <a:noFill/>
        </p:spPr>
        <p:txBody>
          <a:bodyPr vert="horz" lIns="91440" tIns="45720" rIns="91440" bIns="45720" rtlCol="0" anchor="t">
            <a:normAutofit/>
          </a:bodyPr>
          <a:lstStyle/>
          <a:p>
            <a:pPr algn="r" rtl="1"/>
            <a:r>
              <a:rPr lang="he-IL" i="1" dirty="0"/>
              <a:t>הקושי:</a:t>
            </a:r>
            <a:r>
              <a:rPr lang="he-IL" dirty="0"/>
              <a:t> המשתמש מזין שעה ודקות, אך המערכת מנהלת זמנים כ"סה"כ דקות מחצות".</a:t>
            </a:r>
          </a:p>
          <a:p>
            <a:pPr algn="r" rtl="1"/>
            <a:r>
              <a:rPr lang="he-IL" i="1" dirty="0"/>
              <a:t>הפתרון:</a:t>
            </a:r>
            <a:r>
              <a:rPr lang="he-IL" dirty="0"/>
              <a:t> בניית נוסחאות המרה בעת הקליטה, ושימוש ב-</a:t>
            </a:r>
            <a:r>
              <a:rPr lang="en-US" dirty="0"/>
              <a:t>Macros (</a:t>
            </a:r>
            <a:r>
              <a:rPr lang="en-US" dirty="0">
                <a:latin typeface="Courier New" panose="02070309020205020404" pitchFamily="49" charset="0"/>
              </a:rPr>
              <a:t>GET_HOUR</a:t>
            </a:r>
            <a:r>
              <a:rPr lang="en-US" dirty="0"/>
              <a:t>, </a:t>
            </a:r>
            <a:r>
              <a:rPr lang="en-US" dirty="0">
                <a:latin typeface="Courier New" panose="02070309020205020404" pitchFamily="49" charset="0"/>
              </a:rPr>
              <a:t>GET_MIN</a:t>
            </a:r>
            <a:r>
              <a:rPr lang="en-US" dirty="0"/>
              <a:t>) </a:t>
            </a:r>
            <a:r>
              <a:rPr lang="he-IL" dirty="0"/>
              <a:t> לחילוץ אלגנטי של השעה המדויקת להדפסה.</a:t>
            </a:r>
          </a:p>
          <a:p>
            <a:pPr algn="r" rtl="1"/>
            <a:endParaRPr lang="en-US" dirty="0"/>
          </a:p>
          <a:p>
            <a:pPr algn="r" rtl="1"/>
            <a:r>
              <a:rPr lang="he-IL" dirty="0"/>
              <a:t> </a:t>
            </a:r>
            <a:endParaRPr lang="en-US" dirty="0"/>
          </a:p>
          <a:p>
            <a:pPr algn="r" rtl="1"/>
            <a:endParaRPr lang="en-US" dirty="0"/>
          </a:p>
        </p:txBody>
      </p:sp>
      <p:sp>
        <p:nvSpPr>
          <p:cNvPr id="8" name="Slide Number Placeholder 7">
            <a:extLst>
              <a:ext uri="{FF2B5EF4-FFF2-40B4-BE49-F238E27FC236}">
                <a16:creationId xmlns:a16="http://schemas.microsoft.com/office/drawing/2014/main" id="{093736AF-0027-E734-82A8-010D7129D04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13</a:t>
            </a:fld>
            <a:endParaRPr lang="en-US" dirty="0"/>
          </a:p>
        </p:txBody>
      </p:sp>
      <p:pic>
        <p:nvPicPr>
          <p:cNvPr id="11" name="Picture 10">
            <a:extLst>
              <a:ext uri="{FF2B5EF4-FFF2-40B4-BE49-F238E27FC236}">
                <a16:creationId xmlns:a16="http://schemas.microsoft.com/office/drawing/2014/main" id="{B707D5BA-60B7-74DF-D9D5-13DC33116937}"/>
              </a:ext>
            </a:extLst>
          </p:cNvPr>
          <p:cNvPicPr>
            <a:picLocks noChangeAspect="1"/>
          </p:cNvPicPr>
          <p:nvPr/>
        </p:nvPicPr>
        <p:blipFill>
          <a:blip r:embed="rId3"/>
          <a:stretch>
            <a:fillRect/>
          </a:stretch>
        </p:blipFill>
        <p:spPr>
          <a:xfrm>
            <a:off x="1551248" y="4067605"/>
            <a:ext cx="3429479" cy="600159"/>
          </a:xfrm>
          <a:prstGeom prst="rect">
            <a:avLst/>
          </a:prstGeom>
        </p:spPr>
      </p:pic>
      <p:pic>
        <p:nvPicPr>
          <p:cNvPr id="13" name="Picture 12">
            <a:extLst>
              <a:ext uri="{FF2B5EF4-FFF2-40B4-BE49-F238E27FC236}">
                <a16:creationId xmlns:a16="http://schemas.microsoft.com/office/drawing/2014/main" id="{E733DA55-3C6E-4D67-4AE2-F380BEDAA4CF}"/>
              </a:ext>
            </a:extLst>
          </p:cNvPr>
          <p:cNvPicPr>
            <a:picLocks noChangeAspect="1"/>
          </p:cNvPicPr>
          <p:nvPr/>
        </p:nvPicPr>
        <p:blipFill>
          <a:blip r:embed="rId4"/>
          <a:stretch>
            <a:fillRect/>
          </a:stretch>
        </p:blipFill>
        <p:spPr>
          <a:xfrm>
            <a:off x="1232482" y="5433489"/>
            <a:ext cx="8882871" cy="179452"/>
          </a:xfrm>
          <a:prstGeom prst="rect">
            <a:avLst/>
          </a:prstGeom>
        </p:spPr>
      </p:pic>
      <p:pic>
        <p:nvPicPr>
          <p:cNvPr id="15" name="Picture 14">
            <a:extLst>
              <a:ext uri="{FF2B5EF4-FFF2-40B4-BE49-F238E27FC236}">
                <a16:creationId xmlns:a16="http://schemas.microsoft.com/office/drawing/2014/main" id="{7B64EB3F-CA4B-ED48-6A59-4231D7686324}"/>
              </a:ext>
            </a:extLst>
          </p:cNvPr>
          <p:cNvPicPr>
            <a:picLocks noChangeAspect="1"/>
          </p:cNvPicPr>
          <p:nvPr/>
        </p:nvPicPr>
        <p:blipFill>
          <a:blip r:embed="rId5"/>
          <a:stretch>
            <a:fillRect/>
          </a:stretch>
        </p:blipFill>
        <p:spPr>
          <a:xfrm>
            <a:off x="5465629" y="4526953"/>
            <a:ext cx="4291208" cy="523673"/>
          </a:xfrm>
          <a:prstGeom prst="rect">
            <a:avLst/>
          </a:prstGeom>
        </p:spPr>
      </p:pic>
    </p:spTree>
    <p:extLst>
      <p:ext uri="{BB962C8B-B14F-4D97-AF65-F5344CB8AC3E}">
        <p14:creationId xmlns:p14="http://schemas.microsoft.com/office/powerpoint/2010/main" val="729609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76375-2A6F-85AA-B76F-BBC5E41450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E5146A-0D57-67A6-36FE-8340C68F9DA4}"/>
              </a:ext>
            </a:extLst>
          </p:cNvPr>
          <p:cNvSpPr>
            <a:spLocks noGrp="1"/>
          </p:cNvSpPr>
          <p:nvPr>
            <p:ph type="title"/>
          </p:nvPr>
        </p:nvSpPr>
        <p:spPr>
          <a:xfrm>
            <a:off x="1078992" y="365760"/>
            <a:ext cx="10277856" cy="1655064"/>
          </a:xfrm>
          <a:noFill/>
        </p:spPr>
        <p:txBody>
          <a:bodyPr>
            <a:noAutofit/>
          </a:bodyPr>
          <a:lstStyle/>
          <a:p>
            <a:pPr algn="r" rtl="1"/>
            <a:r>
              <a:rPr lang="he-IL" dirty="0"/>
              <a:t>אתגר 2: ניהול משאבים וזיכרון נכון</a:t>
            </a:r>
            <a:endParaRPr lang="en-US" dirty="0"/>
          </a:p>
        </p:txBody>
      </p:sp>
      <p:sp>
        <p:nvSpPr>
          <p:cNvPr id="3" name="Content Placeholder 2">
            <a:extLst>
              <a:ext uri="{FF2B5EF4-FFF2-40B4-BE49-F238E27FC236}">
                <a16:creationId xmlns:a16="http://schemas.microsoft.com/office/drawing/2014/main" id="{273E278E-7EFE-0293-6860-0905488373F2}"/>
              </a:ext>
            </a:extLst>
          </p:cNvPr>
          <p:cNvSpPr>
            <a:spLocks noGrp="1"/>
          </p:cNvSpPr>
          <p:nvPr>
            <p:ph idx="1"/>
          </p:nvPr>
        </p:nvSpPr>
        <p:spPr>
          <a:xfrm>
            <a:off x="4913179" y="2522269"/>
            <a:ext cx="6327648" cy="3090672"/>
          </a:xfrm>
          <a:noFill/>
        </p:spPr>
        <p:txBody>
          <a:bodyPr vert="horz" lIns="91440" tIns="45720" rIns="91440" bIns="45720" rtlCol="0" anchor="t">
            <a:normAutofit/>
          </a:bodyPr>
          <a:lstStyle/>
          <a:p>
            <a:pPr algn="r" rtl="1"/>
            <a:r>
              <a:rPr lang="he-IL" i="1" dirty="0"/>
              <a:t>הקושי:</a:t>
            </a:r>
            <a:r>
              <a:rPr lang="he-IL" dirty="0"/>
              <a:t> עדכון מספר משתנים מקוננים בו-זמנית מבלי לאבד מידע.</a:t>
            </a:r>
          </a:p>
          <a:p>
            <a:pPr algn="r" rtl="1"/>
            <a:r>
              <a:rPr lang="he-IL" i="1" dirty="0"/>
              <a:t>הפתרון:</a:t>
            </a:r>
            <a:r>
              <a:rPr lang="he-IL" dirty="0"/>
              <a:t> שימוש במצביעים (</a:t>
            </a:r>
            <a:r>
              <a:rPr lang="he-IL" dirty="0">
                <a:latin typeface="Courier New" panose="02070309020205020404" pitchFamily="49" charset="0"/>
              </a:rPr>
              <a:t>*</a:t>
            </a:r>
            <a:r>
              <a:rPr lang="he-IL" dirty="0"/>
              <a:t> ו-</a:t>
            </a:r>
            <a:r>
              <a:rPr lang="he-IL" dirty="0">
                <a:latin typeface="Courier New" panose="02070309020205020404" pitchFamily="49" charset="0"/>
              </a:rPr>
              <a:t>-&gt;</a:t>
            </a:r>
            <a:r>
              <a:rPr lang="he-IL" dirty="0"/>
              <a:t>) כדי לשנות את הנתונים ישירות בכתובת הזיכרון של התחנה (</a:t>
            </a:r>
            <a:r>
              <a:rPr lang="he-IL" dirty="0">
                <a:latin typeface="Courier New" panose="02070309020205020404" pitchFamily="49" charset="0"/>
              </a:rPr>
              <a:t>&amp;</a:t>
            </a:r>
            <a:r>
              <a:rPr lang="en-US" dirty="0" err="1">
                <a:latin typeface="Courier New" panose="02070309020205020404" pitchFamily="49" charset="0"/>
              </a:rPr>
              <a:t>mystation</a:t>
            </a:r>
            <a:r>
              <a:rPr lang="en-US" dirty="0"/>
              <a:t>).</a:t>
            </a:r>
          </a:p>
          <a:p>
            <a:pPr algn="r" rtl="1"/>
            <a:endParaRPr lang="en-US" dirty="0"/>
          </a:p>
          <a:p>
            <a:pPr algn="r" rtl="1"/>
            <a:r>
              <a:rPr lang="he-IL" dirty="0"/>
              <a:t> </a:t>
            </a:r>
            <a:endParaRPr lang="en-US" dirty="0"/>
          </a:p>
          <a:p>
            <a:pPr algn="r" rtl="1"/>
            <a:endParaRPr lang="en-US" dirty="0"/>
          </a:p>
        </p:txBody>
      </p:sp>
      <p:sp>
        <p:nvSpPr>
          <p:cNvPr id="8" name="Slide Number Placeholder 7">
            <a:extLst>
              <a:ext uri="{FF2B5EF4-FFF2-40B4-BE49-F238E27FC236}">
                <a16:creationId xmlns:a16="http://schemas.microsoft.com/office/drawing/2014/main" id="{4B9216D1-BF6B-21E3-2F10-7F78AFFEDD3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14</a:t>
            </a:fld>
            <a:endParaRPr lang="en-US" dirty="0"/>
          </a:p>
        </p:txBody>
      </p:sp>
      <p:pic>
        <p:nvPicPr>
          <p:cNvPr id="11" name="Picture 10">
            <a:extLst>
              <a:ext uri="{FF2B5EF4-FFF2-40B4-BE49-F238E27FC236}">
                <a16:creationId xmlns:a16="http://schemas.microsoft.com/office/drawing/2014/main" id="{7D9BD1DF-E883-B3D9-EB76-CD4B1FAE47BF}"/>
              </a:ext>
            </a:extLst>
          </p:cNvPr>
          <p:cNvPicPr>
            <a:picLocks noChangeAspect="1"/>
          </p:cNvPicPr>
          <p:nvPr/>
        </p:nvPicPr>
        <p:blipFill>
          <a:blip r:embed="rId3"/>
          <a:stretch>
            <a:fillRect/>
          </a:stretch>
        </p:blipFill>
        <p:spPr>
          <a:xfrm>
            <a:off x="1862466" y="4457700"/>
            <a:ext cx="6214537" cy="928741"/>
          </a:xfrm>
          <a:prstGeom prst="rect">
            <a:avLst/>
          </a:prstGeom>
        </p:spPr>
      </p:pic>
    </p:spTree>
    <p:extLst>
      <p:ext uri="{BB962C8B-B14F-4D97-AF65-F5344CB8AC3E}">
        <p14:creationId xmlns:p14="http://schemas.microsoft.com/office/powerpoint/2010/main" val="4186016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85C3F-7A6E-4183-D48B-D770A830F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C48F1-B42F-4DC7-4041-8EAE3E0D5DE9}"/>
              </a:ext>
            </a:extLst>
          </p:cNvPr>
          <p:cNvSpPr>
            <a:spLocks noGrp="1"/>
          </p:cNvSpPr>
          <p:nvPr>
            <p:ph type="title"/>
          </p:nvPr>
        </p:nvSpPr>
        <p:spPr>
          <a:xfrm>
            <a:off x="1078992" y="365760"/>
            <a:ext cx="10277856" cy="1655064"/>
          </a:xfrm>
          <a:noFill/>
        </p:spPr>
        <p:txBody>
          <a:bodyPr>
            <a:noAutofit/>
          </a:bodyPr>
          <a:lstStyle/>
          <a:p>
            <a:pPr algn="r" rtl="1"/>
            <a:r>
              <a:rPr lang="he-IL" dirty="0"/>
              <a:t>אתגר 3: ארגון ופיצול קוד</a:t>
            </a:r>
            <a:endParaRPr lang="en-US" dirty="0"/>
          </a:p>
        </p:txBody>
      </p:sp>
      <p:sp>
        <p:nvSpPr>
          <p:cNvPr id="3" name="Content Placeholder 2">
            <a:extLst>
              <a:ext uri="{FF2B5EF4-FFF2-40B4-BE49-F238E27FC236}">
                <a16:creationId xmlns:a16="http://schemas.microsoft.com/office/drawing/2014/main" id="{FB013255-43E2-8B95-8B40-084E0290860D}"/>
              </a:ext>
            </a:extLst>
          </p:cNvPr>
          <p:cNvSpPr>
            <a:spLocks noGrp="1"/>
          </p:cNvSpPr>
          <p:nvPr>
            <p:ph idx="1"/>
          </p:nvPr>
        </p:nvSpPr>
        <p:spPr>
          <a:xfrm>
            <a:off x="4913179" y="2522269"/>
            <a:ext cx="6327648" cy="3090672"/>
          </a:xfrm>
          <a:noFill/>
        </p:spPr>
        <p:txBody>
          <a:bodyPr vert="horz" lIns="91440" tIns="45720" rIns="91440" bIns="45720" rtlCol="0" anchor="t">
            <a:normAutofit/>
          </a:bodyPr>
          <a:lstStyle/>
          <a:p>
            <a:pPr algn="r" rtl="1"/>
            <a:r>
              <a:rPr lang="he-IL" i="1" dirty="0"/>
              <a:t>הקושי:</a:t>
            </a:r>
            <a:r>
              <a:rPr lang="he-IL" dirty="0"/>
              <a:t> חלוקת קוד עמוס לקבצים נפרדים מבלי לגרום לשגיאות </a:t>
            </a:r>
            <a:r>
              <a:rPr lang="en-US" dirty="0"/>
              <a:t>Linker.</a:t>
            </a:r>
          </a:p>
          <a:p>
            <a:pPr algn="r" rtl="1"/>
            <a:r>
              <a:rPr lang="he-IL" i="1" dirty="0"/>
              <a:t>הפתרון:</a:t>
            </a:r>
            <a:r>
              <a:rPr lang="he-IL" dirty="0"/>
              <a:t> עבודה נכונה עם קובץ </a:t>
            </a:r>
            <a:r>
              <a:rPr lang="en-US" dirty="0"/>
              <a:t>Header (</a:t>
            </a:r>
            <a:r>
              <a:rPr lang="en-US" dirty="0">
                <a:solidFill>
                  <a:schemeClr val="tx1"/>
                </a:solidFill>
              </a:rPr>
              <a:t>.h</a:t>
            </a:r>
            <a:r>
              <a:rPr lang="en-US" dirty="0"/>
              <a:t>) </a:t>
            </a:r>
            <a:r>
              <a:rPr lang="he-IL" dirty="0"/>
              <a:t> והגנה מפני קריאה כפולה בעזרת</a:t>
            </a:r>
            <a:r>
              <a:rPr lang="en-US" dirty="0"/>
              <a:t>#</a:t>
            </a:r>
            <a:r>
              <a:rPr lang="en-US" dirty="0">
                <a:solidFill>
                  <a:schemeClr val="tx1"/>
                </a:solidFill>
              </a:rPr>
              <a:t>ifndef  </a:t>
            </a:r>
            <a:endParaRPr lang="en-US" dirty="0"/>
          </a:p>
          <a:p>
            <a:pPr algn="r" rtl="1"/>
            <a:endParaRPr lang="en-US" dirty="0"/>
          </a:p>
          <a:p>
            <a:pPr algn="r" rtl="1"/>
            <a:r>
              <a:rPr lang="he-IL" dirty="0"/>
              <a:t> </a:t>
            </a:r>
            <a:endParaRPr lang="en-US" dirty="0"/>
          </a:p>
          <a:p>
            <a:pPr algn="r" rtl="1"/>
            <a:endParaRPr lang="en-US" dirty="0"/>
          </a:p>
        </p:txBody>
      </p:sp>
      <p:sp>
        <p:nvSpPr>
          <p:cNvPr id="8" name="Slide Number Placeholder 7">
            <a:extLst>
              <a:ext uri="{FF2B5EF4-FFF2-40B4-BE49-F238E27FC236}">
                <a16:creationId xmlns:a16="http://schemas.microsoft.com/office/drawing/2014/main" id="{E809E85B-A3AC-C05A-5D0A-F05301DCF5D8}"/>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15</a:t>
            </a:fld>
            <a:endParaRPr lang="en-US" dirty="0"/>
          </a:p>
        </p:txBody>
      </p:sp>
      <p:pic>
        <p:nvPicPr>
          <p:cNvPr id="5" name="Picture 4">
            <a:extLst>
              <a:ext uri="{FF2B5EF4-FFF2-40B4-BE49-F238E27FC236}">
                <a16:creationId xmlns:a16="http://schemas.microsoft.com/office/drawing/2014/main" id="{9BF5064E-D5A9-2CA8-72B4-844FC09C2266}"/>
              </a:ext>
            </a:extLst>
          </p:cNvPr>
          <p:cNvPicPr>
            <a:picLocks noChangeAspect="1"/>
          </p:cNvPicPr>
          <p:nvPr/>
        </p:nvPicPr>
        <p:blipFill>
          <a:blip r:embed="rId3"/>
          <a:stretch>
            <a:fillRect/>
          </a:stretch>
        </p:blipFill>
        <p:spPr>
          <a:xfrm>
            <a:off x="667564" y="928250"/>
            <a:ext cx="4042075" cy="226658"/>
          </a:xfrm>
          <a:prstGeom prst="rect">
            <a:avLst/>
          </a:prstGeom>
        </p:spPr>
      </p:pic>
      <p:pic>
        <p:nvPicPr>
          <p:cNvPr id="10" name="Picture 9">
            <a:extLst>
              <a:ext uri="{FF2B5EF4-FFF2-40B4-BE49-F238E27FC236}">
                <a16:creationId xmlns:a16="http://schemas.microsoft.com/office/drawing/2014/main" id="{35A86D94-423C-AAD0-C28C-DAAED68C8674}"/>
              </a:ext>
            </a:extLst>
          </p:cNvPr>
          <p:cNvPicPr>
            <a:picLocks noChangeAspect="1"/>
          </p:cNvPicPr>
          <p:nvPr/>
        </p:nvPicPr>
        <p:blipFill>
          <a:blip r:embed="rId4"/>
          <a:stretch>
            <a:fillRect/>
          </a:stretch>
        </p:blipFill>
        <p:spPr>
          <a:xfrm>
            <a:off x="464026" y="1245059"/>
            <a:ext cx="4449153" cy="4458033"/>
          </a:xfrm>
          <a:prstGeom prst="rect">
            <a:avLst/>
          </a:prstGeom>
        </p:spPr>
      </p:pic>
    </p:spTree>
    <p:extLst>
      <p:ext uri="{BB962C8B-B14F-4D97-AF65-F5344CB8AC3E}">
        <p14:creationId xmlns:p14="http://schemas.microsoft.com/office/powerpoint/2010/main" val="1226989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33000">
              <a:schemeClr val="bg2"/>
            </a:gs>
            <a:gs pos="59000">
              <a:schemeClr val="tx2">
                <a:lumMod val="90000"/>
                <a:alpha val="65163"/>
              </a:schemeClr>
            </a:gs>
          </a:gsLst>
          <a:lin ang="21594000" scaled="0"/>
        </a:gradFill>
        <a:effectLst/>
      </p:bgPr>
    </p:bg>
    <p:spTree>
      <p:nvGrpSpPr>
        <p:cNvPr id="1" name="">
          <a:extLst>
            <a:ext uri="{FF2B5EF4-FFF2-40B4-BE49-F238E27FC236}">
              <a16:creationId xmlns:a16="http://schemas.microsoft.com/office/drawing/2014/main" id="{891E31D2-EBF5-94FB-BB26-FACD68F67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019B5-E235-0741-C91C-D18C61BA0928}"/>
              </a:ext>
            </a:extLst>
          </p:cNvPr>
          <p:cNvSpPr>
            <a:spLocks noGrp="1"/>
          </p:cNvSpPr>
          <p:nvPr>
            <p:ph type="title"/>
          </p:nvPr>
        </p:nvSpPr>
        <p:spPr>
          <a:xfrm>
            <a:off x="1078992" y="365760"/>
            <a:ext cx="10506456" cy="1655064"/>
          </a:xfrm>
          <a:noFill/>
        </p:spPr>
        <p:txBody>
          <a:bodyPr>
            <a:noAutofit/>
          </a:bodyPr>
          <a:lstStyle/>
          <a:p>
            <a:pPr algn="ctr" rtl="1"/>
            <a:r>
              <a:rPr lang="he-IL" dirty="0"/>
              <a:t>הרחבות ויכולות מתקדמות</a:t>
            </a:r>
            <a:endParaRPr lang="en-US" dirty="0"/>
          </a:p>
        </p:txBody>
      </p:sp>
      <p:graphicFrame>
        <p:nvGraphicFramePr>
          <p:cNvPr id="14" name="Content Placeholder 13" descr="A timeline of the product launch">
            <a:extLst>
              <a:ext uri="{FF2B5EF4-FFF2-40B4-BE49-F238E27FC236}">
                <a16:creationId xmlns:a16="http://schemas.microsoft.com/office/drawing/2014/main" id="{781A1F1A-C7AF-D02D-D99C-B33385D8632C}"/>
              </a:ext>
            </a:extLst>
          </p:cNvPr>
          <p:cNvGraphicFramePr>
            <a:graphicFrameLocks noGrp="1"/>
          </p:cNvGraphicFramePr>
          <p:nvPr>
            <p:ph sz="half" idx="2"/>
            <p:extLst>
              <p:ext uri="{D42A27DB-BD31-4B8C-83A1-F6EECF244321}">
                <p14:modId xmlns:p14="http://schemas.microsoft.com/office/powerpoint/2010/main" val="2735657410"/>
              </p:ext>
            </p:extLst>
          </p:nvPr>
        </p:nvGraphicFramePr>
        <p:xfrm>
          <a:off x="2786062" y="2020824"/>
          <a:ext cx="6619875" cy="3913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1" name="Slide Number Placeholder 20">
            <a:extLst>
              <a:ext uri="{FF2B5EF4-FFF2-40B4-BE49-F238E27FC236}">
                <a16:creationId xmlns:a16="http://schemas.microsoft.com/office/drawing/2014/main" id="{1BA77514-B0C6-A8C5-0783-C16AD9D0EE6B}"/>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16</a:t>
            </a:fld>
            <a:endParaRPr lang="en-US" dirty="0"/>
          </a:p>
        </p:txBody>
      </p:sp>
    </p:spTree>
    <p:extLst>
      <p:ext uri="{BB962C8B-B14F-4D97-AF65-F5344CB8AC3E}">
        <p14:creationId xmlns:p14="http://schemas.microsoft.com/office/powerpoint/2010/main" val="1824275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F8599-3D34-6B54-CD2D-85EE99B3F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E7C7D-966C-C6BA-07D7-6794742F9401}"/>
              </a:ext>
            </a:extLst>
          </p:cNvPr>
          <p:cNvSpPr>
            <a:spLocks noGrp="1"/>
          </p:cNvSpPr>
          <p:nvPr>
            <p:ph type="title"/>
          </p:nvPr>
        </p:nvSpPr>
        <p:spPr>
          <a:xfrm>
            <a:off x="1078992" y="365760"/>
            <a:ext cx="10277856" cy="1655064"/>
          </a:xfrm>
          <a:noFill/>
        </p:spPr>
        <p:txBody>
          <a:bodyPr>
            <a:noAutofit/>
          </a:bodyPr>
          <a:lstStyle/>
          <a:p>
            <a:pPr algn="r" rtl="1"/>
            <a:r>
              <a:rPr lang="he-IL" dirty="0"/>
              <a:t>גמישות ודינמיות </a:t>
            </a:r>
            <a:r>
              <a:rPr lang="en-US" dirty="0"/>
              <a:t>(Dynamic Allocation)</a:t>
            </a:r>
            <a:r>
              <a:rPr lang="he-IL" dirty="0"/>
              <a:t>:</a:t>
            </a:r>
            <a:endParaRPr lang="en-US" dirty="0"/>
          </a:p>
        </p:txBody>
      </p:sp>
      <p:sp>
        <p:nvSpPr>
          <p:cNvPr id="3" name="Content Placeholder 2">
            <a:extLst>
              <a:ext uri="{FF2B5EF4-FFF2-40B4-BE49-F238E27FC236}">
                <a16:creationId xmlns:a16="http://schemas.microsoft.com/office/drawing/2014/main" id="{3B787A3A-ABBF-FD9D-BE4C-B43A0817AE22}"/>
              </a:ext>
            </a:extLst>
          </p:cNvPr>
          <p:cNvSpPr>
            <a:spLocks noGrp="1"/>
          </p:cNvSpPr>
          <p:nvPr>
            <p:ph idx="1"/>
          </p:nvPr>
        </p:nvSpPr>
        <p:spPr>
          <a:xfrm>
            <a:off x="4913179" y="2522269"/>
            <a:ext cx="6327648" cy="3090672"/>
          </a:xfrm>
          <a:noFill/>
        </p:spPr>
        <p:txBody>
          <a:bodyPr vert="horz" lIns="91440" tIns="45720" rIns="91440" bIns="45720" rtlCol="0" anchor="t">
            <a:normAutofit/>
          </a:bodyPr>
          <a:lstStyle/>
          <a:p>
            <a:pPr algn="r" rtl="1"/>
            <a:r>
              <a:rPr lang="he-IL" dirty="0"/>
              <a:t>המערכת לא קשיחה ל-5 קווים. המנהל מחליט כמה קווים להפעיל היום (1-5), והלולאות/דוחות מתאימים את עצמם כדי לחסוך עיבוד מיותר.</a:t>
            </a:r>
            <a:endParaRPr lang="en-US" dirty="0"/>
          </a:p>
          <a:p>
            <a:pPr algn="r" rtl="1"/>
            <a:endParaRPr lang="en-US" dirty="0"/>
          </a:p>
          <a:p>
            <a:pPr algn="r" rtl="1"/>
            <a:r>
              <a:rPr lang="he-IL" dirty="0"/>
              <a:t> </a:t>
            </a:r>
            <a:endParaRPr lang="en-US" dirty="0"/>
          </a:p>
          <a:p>
            <a:pPr algn="r" rtl="1"/>
            <a:endParaRPr lang="en-US" dirty="0"/>
          </a:p>
        </p:txBody>
      </p:sp>
      <p:sp>
        <p:nvSpPr>
          <p:cNvPr id="8" name="Slide Number Placeholder 7">
            <a:extLst>
              <a:ext uri="{FF2B5EF4-FFF2-40B4-BE49-F238E27FC236}">
                <a16:creationId xmlns:a16="http://schemas.microsoft.com/office/drawing/2014/main" id="{56160A16-0C85-9875-1B77-98C9C7EC3FC9}"/>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17</a:t>
            </a:fld>
            <a:endParaRPr lang="en-US" dirty="0"/>
          </a:p>
        </p:txBody>
      </p:sp>
      <p:pic>
        <p:nvPicPr>
          <p:cNvPr id="7" name="Picture 6">
            <a:extLst>
              <a:ext uri="{FF2B5EF4-FFF2-40B4-BE49-F238E27FC236}">
                <a16:creationId xmlns:a16="http://schemas.microsoft.com/office/drawing/2014/main" id="{E8AC4374-61B9-4E9C-A5AC-F930F481D173}"/>
              </a:ext>
            </a:extLst>
          </p:cNvPr>
          <p:cNvPicPr>
            <a:picLocks noChangeAspect="1"/>
          </p:cNvPicPr>
          <p:nvPr/>
        </p:nvPicPr>
        <p:blipFill>
          <a:blip r:embed="rId3"/>
          <a:stretch>
            <a:fillRect/>
          </a:stretch>
        </p:blipFill>
        <p:spPr>
          <a:xfrm>
            <a:off x="4178654" y="4741327"/>
            <a:ext cx="6129873" cy="340548"/>
          </a:xfrm>
          <a:prstGeom prst="rect">
            <a:avLst/>
          </a:prstGeom>
        </p:spPr>
      </p:pic>
      <p:pic>
        <p:nvPicPr>
          <p:cNvPr id="10" name="Picture 9">
            <a:extLst>
              <a:ext uri="{FF2B5EF4-FFF2-40B4-BE49-F238E27FC236}">
                <a16:creationId xmlns:a16="http://schemas.microsoft.com/office/drawing/2014/main" id="{6D6958DB-C665-22F7-F2BB-37DDDD590F48}"/>
              </a:ext>
            </a:extLst>
          </p:cNvPr>
          <p:cNvPicPr>
            <a:picLocks noChangeAspect="1"/>
          </p:cNvPicPr>
          <p:nvPr/>
        </p:nvPicPr>
        <p:blipFill>
          <a:blip r:embed="rId4"/>
          <a:stretch>
            <a:fillRect/>
          </a:stretch>
        </p:blipFill>
        <p:spPr>
          <a:xfrm>
            <a:off x="2314297" y="3429000"/>
            <a:ext cx="3982006" cy="1162212"/>
          </a:xfrm>
          <a:prstGeom prst="rect">
            <a:avLst/>
          </a:prstGeom>
        </p:spPr>
      </p:pic>
    </p:spTree>
    <p:extLst>
      <p:ext uri="{BB962C8B-B14F-4D97-AF65-F5344CB8AC3E}">
        <p14:creationId xmlns:p14="http://schemas.microsoft.com/office/powerpoint/2010/main" val="1190743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54A92-BF00-E5EB-073C-017279225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6EF5D-6EAA-0448-839B-FB5EE9CB645E}"/>
              </a:ext>
            </a:extLst>
          </p:cNvPr>
          <p:cNvSpPr>
            <a:spLocks noGrp="1"/>
          </p:cNvSpPr>
          <p:nvPr>
            <p:ph type="title"/>
          </p:nvPr>
        </p:nvSpPr>
        <p:spPr>
          <a:xfrm>
            <a:off x="1078992" y="365760"/>
            <a:ext cx="10277856" cy="1655064"/>
          </a:xfrm>
          <a:noFill/>
        </p:spPr>
        <p:txBody>
          <a:bodyPr>
            <a:noAutofit/>
          </a:bodyPr>
          <a:lstStyle/>
          <a:p>
            <a:pPr algn="r" rtl="1"/>
            <a:r>
              <a:rPr lang="he-IL" dirty="0"/>
              <a:t>גיבוי ואחסון קבוע </a:t>
            </a:r>
            <a:r>
              <a:rPr lang="en-US" dirty="0"/>
              <a:t>File I/O)</a:t>
            </a:r>
            <a:r>
              <a:rPr lang="he-IL" dirty="0"/>
              <a:t>):</a:t>
            </a:r>
            <a:endParaRPr lang="en-US" dirty="0"/>
          </a:p>
        </p:txBody>
      </p:sp>
      <p:sp>
        <p:nvSpPr>
          <p:cNvPr id="3" name="Content Placeholder 2">
            <a:extLst>
              <a:ext uri="{FF2B5EF4-FFF2-40B4-BE49-F238E27FC236}">
                <a16:creationId xmlns:a16="http://schemas.microsoft.com/office/drawing/2014/main" id="{BE13EACD-4239-995E-A996-E481DA674AC0}"/>
              </a:ext>
            </a:extLst>
          </p:cNvPr>
          <p:cNvSpPr>
            <a:spLocks noGrp="1"/>
          </p:cNvSpPr>
          <p:nvPr>
            <p:ph idx="1"/>
          </p:nvPr>
        </p:nvSpPr>
        <p:spPr>
          <a:xfrm>
            <a:off x="4913179" y="2522269"/>
            <a:ext cx="6327648" cy="3090672"/>
          </a:xfrm>
          <a:noFill/>
        </p:spPr>
        <p:txBody>
          <a:bodyPr vert="horz" lIns="91440" tIns="45720" rIns="91440" bIns="45720" rtlCol="0" anchor="t">
            <a:normAutofit/>
          </a:bodyPr>
          <a:lstStyle/>
          <a:p>
            <a:pPr algn="r" rtl="1"/>
            <a:r>
              <a:rPr lang="he-IL" dirty="0"/>
              <a:t>מימוש פונקציית</a:t>
            </a:r>
            <a:r>
              <a:rPr lang="en-US" dirty="0" err="1">
                <a:solidFill>
                  <a:schemeClr val="tx1"/>
                </a:solidFill>
              </a:rPr>
              <a:t>saveReportToFile</a:t>
            </a:r>
            <a:r>
              <a:rPr lang="en-US" dirty="0"/>
              <a:t> </a:t>
            </a:r>
            <a:r>
              <a:rPr lang="he-IL" dirty="0"/>
              <a:t> היוצרת ומעדכנת קובץ טקסט (</a:t>
            </a:r>
            <a:r>
              <a:rPr lang="en-US" dirty="0"/>
              <a:t>(</a:t>
            </a:r>
            <a:r>
              <a:rPr lang="en-US" dirty="0">
                <a:solidFill>
                  <a:schemeClr val="tx1"/>
                </a:solidFill>
              </a:rPr>
              <a:t>station_report.txt</a:t>
            </a:r>
            <a:r>
              <a:rPr lang="he-IL" dirty="0">
                <a:solidFill>
                  <a:schemeClr val="tx1"/>
                </a:solidFill>
              </a:rPr>
              <a:t>.</a:t>
            </a:r>
            <a:r>
              <a:rPr lang="he-IL" dirty="0"/>
              <a:t> מבטיח שנתוני ההכנסות לא יאבדו עם התרוקנות ה-</a:t>
            </a:r>
            <a:r>
              <a:rPr lang="en-US" dirty="0"/>
              <a:t>RAM </a:t>
            </a:r>
            <a:r>
              <a:rPr lang="he-IL" dirty="0"/>
              <a:t> בסגירת התוכנית.</a:t>
            </a:r>
            <a:endParaRPr lang="en-US" dirty="0"/>
          </a:p>
          <a:p>
            <a:pPr algn="r" rtl="1"/>
            <a:endParaRPr lang="en-US" dirty="0"/>
          </a:p>
          <a:p>
            <a:pPr algn="r" rtl="1"/>
            <a:r>
              <a:rPr lang="he-IL" dirty="0"/>
              <a:t> </a:t>
            </a:r>
            <a:endParaRPr lang="en-US" dirty="0"/>
          </a:p>
          <a:p>
            <a:pPr algn="r" rtl="1"/>
            <a:endParaRPr lang="en-US" dirty="0"/>
          </a:p>
        </p:txBody>
      </p:sp>
      <p:sp>
        <p:nvSpPr>
          <p:cNvPr id="8" name="Slide Number Placeholder 7">
            <a:extLst>
              <a:ext uri="{FF2B5EF4-FFF2-40B4-BE49-F238E27FC236}">
                <a16:creationId xmlns:a16="http://schemas.microsoft.com/office/drawing/2014/main" id="{8BA2CF9B-8FF3-4678-B177-B37589E83436}"/>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18</a:t>
            </a:fld>
            <a:endParaRPr lang="en-US" dirty="0"/>
          </a:p>
        </p:txBody>
      </p:sp>
      <p:pic>
        <p:nvPicPr>
          <p:cNvPr id="5" name="Picture 4">
            <a:extLst>
              <a:ext uri="{FF2B5EF4-FFF2-40B4-BE49-F238E27FC236}">
                <a16:creationId xmlns:a16="http://schemas.microsoft.com/office/drawing/2014/main" id="{C145D05E-7F83-C2EE-8C53-D5B32B4E186E}"/>
              </a:ext>
            </a:extLst>
          </p:cNvPr>
          <p:cNvPicPr>
            <a:picLocks noChangeAspect="1"/>
          </p:cNvPicPr>
          <p:nvPr/>
        </p:nvPicPr>
        <p:blipFill>
          <a:blip r:embed="rId3"/>
          <a:stretch>
            <a:fillRect/>
          </a:stretch>
        </p:blipFill>
        <p:spPr>
          <a:xfrm>
            <a:off x="1078992" y="3334392"/>
            <a:ext cx="4380874" cy="2917812"/>
          </a:xfrm>
          <a:prstGeom prst="rect">
            <a:avLst/>
          </a:prstGeom>
        </p:spPr>
      </p:pic>
      <p:pic>
        <p:nvPicPr>
          <p:cNvPr id="7" name="Picture 6">
            <a:extLst>
              <a:ext uri="{FF2B5EF4-FFF2-40B4-BE49-F238E27FC236}">
                <a16:creationId xmlns:a16="http://schemas.microsoft.com/office/drawing/2014/main" id="{380BA47A-CD4A-740B-C236-AC50A59698B6}"/>
              </a:ext>
            </a:extLst>
          </p:cNvPr>
          <p:cNvPicPr>
            <a:picLocks noChangeAspect="1"/>
          </p:cNvPicPr>
          <p:nvPr/>
        </p:nvPicPr>
        <p:blipFill>
          <a:blip r:embed="rId4"/>
          <a:stretch>
            <a:fillRect/>
          </a:stretch>
        </p:blipFill>
        <p:spPr>
          <a:xfrm rot="707194">
            <a:off x="1685724" y="1547693"/>
            <a:ext cx="2876951" cy="1705213"/>
          </a:xfrm>
          <a:prstGeom prst="rect">
            <a:avLst/>
          </a:prstGeom>
        </p:spPr>
      </p:pic>
    </p:spTree>
    <p:extLst>
      <p:ext uri="{BB962C8B-B14F-4D97-AF65-F5344CB8AC3E}">
        <p14:creationId xmlns:p14="http://schemas.microsoft.com/office/powerpoint/2010/main" val="564897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C6A96-418B-0B8D-9547-830FE52FF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415E4-EB7B-6D22-2721-F52565425696}"/>
              </a:ext>
            </a:extLst>
          </p:cNvPr>
          <p:cNvSpPr>
            <a:spLocks noGrp="1"/>
          </p:cNvSpPr>
          <p:nvPr>
            <p:ph type="title"/>
          </p:nvPr>
        </p:nvSpPr>
        <p:spPr>
          <a:xfrm>
            <a:off x="1078992" y="365760"/>
            <a:ext cx="10277856" cy="1655064"/>
          </a:xfrm>
          <a:noFill/>
        </p:spPr>
        <p:txBody>
          <a:bodyPr>
            <a:noAutofit/>
          </a:bodyPr>
          <a:lstStyle/>
          <a:p>
            <a:pPr algn="r" rtl="1"/>
            <a:r>
              <a:rPr lang="he-IL" dirty="0"/>
              <a:t>חוויית משתמש </a:t>
            </a:r>
            <a:r>
              <a:rPr lang="en-US" dirty="0"/>
              <a:t>UX / ASCII Art)</a:t>
            </a:r>
            <a:r>
              <a:rPr lang="he-IL" dirty="0"/>
              <a:t>):</a:t>
            </a:r>
            <a:endParaRPr lang="en-US" dirty="0"/>
          </a:p>
        </p:txBody>
      </p:sp>
      <p:sp>
        <p:nvSpPr>
          <p:cNvPr id="3" name="Content Placeholder 2">
            <a:extLst>
              <a:ext uri="{FF2B5EF4-FFF2-40B4-BE49-F238E27FC236}">
                <a16:creationId xmlns:a16="http://schemas.microsoft.com/office/drawing/2014/main" id="{DAD764C9-6432-B4B7-7C3E-7550BEFD90FC}"/>
              </a:ext>
            </a:extLst>
          </p:cNvPr>
          <p:cNvSpPr>
            <a:spLocks noGrp="1"/>
          </p:cNvSpPr>
          <p:nvPr>
            <p:ph idx="1"/>
          </p:nvPr>
        </p:nvSpPr>
        <p:spPr>
          <a:xfrm>
            <a:off x="4913179" y="2522269"/>
            <a:ext cx="6327648" cy="3090672"/>
          </a:xfrm>
          <a:noFill/>
        </p:spPr>
        <p:txBody>
          <a:bodyPr vert="horz" lIns="91440" tIns="45720" rIns="91440" bIns="45720" rtlCol="0" anchor="t">
            <a:normAutofit/>
          </a:bodyPr>
          <a:lstStyle/>
          <a:p>
            <a:pPr algn="r" rtl="1"/>
            <a:r>
              <a:rPr lang="he-IL" dirty="0"/>
              <a:t>בניית ממשק משתמש נקי: הדפסת "כרטיס נסיעה" גרפי לאחר התשלום.</a:t>
            </a:r>
          </a:p>
          <a:p>
            <a:pPr algn="r" rtl="1"/>
            <a:r>
              <a:rPr lang="he-IL" dirty="0"/>
              <a:t>שימוש בטכניקות יישור עמודות (</a:t>
            </a:r>
            <a:r>
              <a:rPr lang="en-US" dirty="0"/>
              <a:t>(Field Width </a:t>
            </a:r>
            <a:r>
              <a:rPr lang="he-IL" dirty="0"/>
              <a:t> כמו </a:t>
            </a:r>
            <a:r>
              <a:rPr lang="en-US" dirty="0">
                <a:solidFill>
                  <a:schemeClr val="tx1"/>
                </a:solidFill>
              </a:rPr>
              <a:t>%-15d </a:t>
            </a:r>
            <a:r>
              <a:rPr lang="he-IL" dirty="0"/>
              <a:t>ליצירת טבלאות סיכום מקצועיות וקריאות.</a:t>
            </a:r>
          </a:p>
          <a:p>
            <a:pPr algn="r" rtl="1"/>
            <a:endParaRPr lang="en-US" dirty="0"/>
          </a:p>
          <a:p>
            <a:pPr algn="r" rtl="1"/>
            <a:r>
              <a:rPr lang="he-IL" dirty="0"/>
              <a:t> </a:t>
            </a:r>
            <a:endParaRPr lang="en-US" dirty="0"/>
          </a:p>
          <a:p>
            <a:pPr algn="r" rtl="1"/>
            <a:endParaRPr lang="en-US" dirty="0"/>
          </a:p>
        </p:txBody>
      </p:sp>
      <p:sp>
        <p:nvSpPr>
          <p:cNvPr id="8" name="Slide Number Placeholder 7">
            <a:extLst>
              <a:ext uri="{FF2B5EF4-FFF2-40B4-BE49-F238E27FC236}">
                <a16:creationId xmlns:a16="http://schemas.microsoft.com/office/drawing/2014/main" id="{8E359678-F3AD-AABB-E926-33D54272899D}"/>
              </a:ext>
            </a:extLst>
          </p:cNvPr>
          <p:cNvSpPr>
            <a:spLocks noGrp="1"/>
          </p:cNvSpPr>
          <p:nvPr>
            <p:ph type="sldNum" sz="quarter" idx="12"/>
          </p:nvPr>
        </p:nvSpPr>
        <p:spPr>
          <a:xfrm>
            <a:off x="9375912" y="6563001"/>
            <a:ext cx="2743200" cy="228600"/>
          </a:xfrm>
        </p:spPr>
        <p:txBody>
          <a:bodyPr/>
          <a:lstStyle/>
          <a:p>
            <a:fld id="{CBD12358-51D2-46B3-9BDE-DF29528B9454}" type="slidenum">
              <a:rPr lang="en-US" smtClean="0"/>
              <a:pPr/>
              <a:t>19</a:t>
            </a:fld>
            <a:endParaRPr lang="en-US" dirty="0"/>
          </a:p>
        </p:txBody>
      </p:sp>
      <p:pic>
        <p:nvPicPr>
          <p:cNvPr id="6" name="Picture 5">
            <a:extLst>
              <a:ext uri="{FF2B5EF4-FFF2-40B4-BE49-F238E27FC236}">
                <a16:creationId xmlns:a16="http://schemas.microsoft.com/office/drawing/2014/main" id="{B769E833-7BD8-5E2D-A650-7469C9714BFA}"/>
              </a:ext>
            </a:extLst>
          </p:cNvPr>
          <p:cNvPicPr>
            <a:picLocks noChangeAspect="1"/>
          </p:cNvPicPr>
          <p:nvPr/>
        </p:nvPicPr>
        <p:blipFill>
          <a:blip r:embed="rId3"/>
          <a:stretch>
            <a:fillRect/>
          </a:stretch>
        </p:blipFill>
        <p:spPr>
          <a:xfrm>
            <a:off x="5601240" y="4458691"/>
            <a:ext cx="5639587" cy="1267002"/>
          </a:xfrm>
          <a:prstGeom prst="rect">
            <a:avLst/>
          </a:prstGeom>
        </p:spPr>
      </p:pic>
      <p:pic>
        <p:nvPicPr>
          <p:cNvPr id="9" name="Picture 8">
            <a:extLst>
              <a:ext uri="{FF2B5EF4-FFF2-40B4-BE49-F238E27FC236}">
                <a16:creationId xmlns:a16="http://schemas.microsoft.com/office/drawing/2014/main" id="{6673D570-869B-D0E1-FEF9-ABE13CE9F8F9}"/>
              </a:ext>
            </a:extLst>
          </p:cNvPr>
          <p:cNvPicPr>
            <a:picLocks noChangeAspect="1"/>
          </p:cNvPicPr>
          <p:nvPr/>
        </p:nvPicPr>
        <p:blipFill>
          <a:blip r:embed="rId4"/>
          <a:stretch>
            <a:fillRect/>
          </a:stretch>
        </p:blipFill>
        <p:spPr>
          <a:xfrm>
            <a:off x="1752386" y="3535158"/>
            <a:ext cx="3067478" cy="2286319"/>
          </a:xfrm>
          <a:prstGeom prst="rect">
            <a:avLst/>
          </a:prstGeom>
        </p:spPr>
      </p:pic>
      <p:pic>
        <p:nvPicPr>
          <p:cNvPr id="11" name="Picture 10">
            <a:extLst>
              <a:ext uri="{FF2B5EF4-FFF2-40B4-BE49-F238E27FC236}">
                <a16:creationId xmlns:a16="http://schemas.microsoft.com/office/drawing/2014/main" id="{AFC17514-0C63-CE28-5809-9D5E63337A42}"/>
              </a:ext>
            </a:extLst>
          </p:cNvPr>
          <p:cNvPicPr>
            <a:picLocks noChangeAspect="1"/>
          </p:cNvPicPr>
          <p:nvPr/>
        </p:nvPicPr>
        <p:blipFill>
          <a:blip r:embed="rId5"/>
          <a:stretch>
            <a:fillRect/>
          </a:stretch>
        </p:blipFill>
        <p:spPr>
          <a:xfrm rot="20332802">
            <a:off x="610966" y="1727198"/>
            <a:ext cx="2282841" cy="1473078"/>
          </a:xfrm>
          <a:prstGeom prst="rect">
            <a:avLst/>
          </a:prstGeom>
        </p:spPr>
      </p:pic>
    </p:spTree>
    <p:extLst>
      <p:ext uri="{BB962C8B-B14F-4D97-AF65-F5344CB8AC3E}">
        <p14:creationId xmlns:p14="http://schemas.microsoft.com/office/powerpoint/2010/main" val="3636451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2A0D7AA-8A21-B977-56ED-94406F29957C}"/>
              </a:ext>
            </a:extLst>
          </p:cNvPr>
          <p:cNvSpPr>
            <a:spLocks noGrp="1"/>
          </p:cNvSpPr>
          <p:nvPr>
            <p:ph type="ctrTitle"/>
          </p:nvPr>
        </p:nvSpPr>
        <p:spPr>
          <a:xfrm>
            <a:off x="647699" y="2932351"/>
            <a:ext cx="7613523" cy="993298"/>
          </a:xfrm>
          <a:noFill/>
        </p:spPr>
        <p:txBody>
          <a:bodyPr anchor="b">
            <a:noAutofit/>
          </a:bodyPr>
          <a:lstStyle/>
          <a:p>
            <a:r>
              <a:rPr lang="en-US" sz="6000" dirty="0"/>
              <a:t>End of presentation</a:t>
            </a:r>
          </a:p>
        </p:txBody>
      </p:sp>
    </p:spTree>
    <p:extLst>
      <p:ext uri="{BB962C8B-B14F-4D97-AF65-F5344CB8AC3E}">
        <p14:creationId xmlns:p14="http://schemas.microsoft.com/office/powerpoint/2010/main" val="3751616652"/>
      </p:ext>
    </p:extLst>
  </p:cSld>
  <p:clrMapOvr>
    <a:masterClrMapping/>
  </p:clrMapOvr>
</p:sld>
</file>

<file path=ppt/theme/theme1.xml><?xml version="1.0" encoding="utf-8"?>
<a:theme xmlns:a="http://schemas.openxmlformats.org/drawingml/2006/main" name="Custom">
  <a:themeElements>
    <a:clrScheme name="Blue spheres">
      <a:dk1>
        <a:srgbClr val="000000"/>
      </a:dk1>
      <a:lt1>
        <a:srgbClr val="FFFFFF"/>
      </a:lt1>
      <a:dk2>
        <a:srgbClr val="E3E7ED"/>
      </a:dk2>
      <a:lt2>
        <a:srgbClr val="E8E8E8"/>
      </a:lt2>
      <a:accent1>
        <a:srgbClr val="7673F7"/>
      </a:accent1>
      <a:accent2>
        <a:srgbClr val="B8C2FD"/>
      </a:accent2>
      <a:accent3>
        <a:srgbClr val="DFE3FC"/>
      </a:accent3>
      <a:accent4>
        <a:srgbClr val="55B3FD"/>
      </a:accent4>
      <a:accent5>
        <a:srgbClr val="99F7F7"/>
      </a:accent5>
      <a:accent6>
        <a:srgbClr val="FEE43F"/>
      </a:accent6>
      <a:hlink>
        <a:srgbClr val="467886"/>
      </a:hlink>
      <a:folHlink>
        <a:srgbClr val="96607D"/>
      </a:folHlink>
    </a:clrScheme>
    <a:fontScheme name="Custom 23">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4076243_win32_CP_V3" id="{81AB0711-29F9-49D0-8A73-16AF25FD4C08}" vid="{D5AD44AB-53B9-4654-A4F8-1821A28F27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9" ma:contentTypeDescription="Create a new document." ma:contentTypeScope="" ma:versionID="6a914531ae0f23be31da2eba1f3b42a9">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ae00154c9e66547f022c4923f88826d6"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C07E3D-60A7-4F4E-8208-D9CCD01982CB}">
  <ds:schemaRefs>
    <ds:schemaRef ds:uri="http://schemas.microsoft.com/sharepoint/v3/contenttype/forms"/>
  </ds:schemaRefs>
</ds:datastoreItem>
</file>

<file path=customXml/itemProps2.xml><?xml version="1.0" encoding="utf-8"?>
<ds:datastoreItem xmlns:ds="http://schemas.openxmlformats.org/officeDocument/2006/customXml" ds:itemID="{CEA9B47F-3DD8-4645-81DC-B88780643C0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567F3CB5-3475-4129-AB60-D0C937DE91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Blue spheres presentation</Template>
  <TotalTime>2740</TotalTime>
  <Words>763</Words>
  <Application>Microsoft Office PowerPoint</Application>
  <PresentationFormat>Widescreen</PresentationFormat>
  <Paragraphs>116</Paragraphs>
  <Slides>20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Courier New</vt:lpstr>
      <vt:lpstr>Custom</vt:lpstr>
      <vt:lpstr>Taxi Station Management</vt:lpstr>
      <vt:lpstr>בניית התחנה</vt:lpstr>
      <vt:lpstr>מבנה נסיעה Ride</vt:lpstr>
      <vt:lpstr>מבנה קו מונית </vt:lpstr>
      <vt:lpstr>מבנה התחנה</vt:lpstr>
      <vt:lpstr>ארכיטקטורה ופונקציות עיקריות</vt:lpstr>
      <vt:lpstr>אתחול דינמי initstation))</vt:lpstr>
      <vt:lpstr>רישום חכם (registerpassenger)</vt:lpstr>
      <vt:lpstr>תשלום וסינכרון (processPayment &amp; updateStationData)</vt:lpstr>
      <vt:lpstr>מעקב זמן אמת (showSystemStatus)</vt:lpstr>
      <vt:lpstr>דוח ניהול (showReports)</vt:lpstr>
      <vt:lpstr>אתגרים מרכזיים ופתרונות</vt:lpstr>
      <vt:lpstr>אתגר 1: לוגיקת זמנים ושעונים מעורבים</vt:lpstr>
      <vt:lpstr>אתגר 2: ניהול משאבים וזיכרון נכון</vt:lpstr>
      <vt:lpstr>אתגר 3: ארגון ופיצול קוד</vt:lpstr>
      <vt:lpstr>הרחבות ויכולות מתקדמות</vt:lpstr>
      <vt:lpstr>גמישות ודינמיות (Dynamic Allocation):</vt:lpstr>
      <vt:lpstr>גיבוי ואחסון קבוע File I/O)):</vt:lpstr>
      <vt:lpstr>חוויית משתמש UX / ASCII Art)):</vt:lpstr>
      <vt:lpstr>End of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Nitay Komemi</dc:creator>
  <cp:lastModifiedBy>Nitay Komemi</cp:lastModifiedBy>
  <cp:revision>6</cp:revision>
  <dcterms:created xsi:type="dcterms:W3CDTF">2026-04-07T10:52:57Z</dcterms:created>
  <dcterms:modified xsi:type="dcterms:W3CDTF">2026-04-09T08:33:18Z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